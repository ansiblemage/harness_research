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636500" cy="9144000"/>
  <p:notesSz cx="9144000" cy="12636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0E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06301"/>
          </a:xfrm>
          <a:prstGeom prst="rect">
            <a:avLst/>
          </a:prstGeom>
          <a:solidFill>
            <a:srgbClr val="8080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52400" y="88850"/>
            <a:ext cx="25906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TestCorp Portal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094482" y="114300"/>
            <a:ext cx="49224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  Services   Board   About   Contact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864501" y="25301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862469" y="50750"/>
            <a:ext cx="2072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0" y="406301"/>
            <a:ext cx="9144000" cy="1269950"/>
          </a:xfrm>
          <a:prstGeom prst="rect">
            <a:avLst/>
          </a:prstGeom>
          <a:solidFill>
            <a:srgbClr val="8080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-91440" y="609600"/>
            <a:ext cx="932688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to TestCorp Portal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03911" y="888950"/>
            <a:ext cx="67360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verification page for html2pptx conversion testing. Includes header navigation, hero content, board section, shape tests, and footer structure.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327350" y="1244501"/>
            <a:ext cx="1015901" cy="253901"/>
          </a:xfrm>
          <a:prstGeom prst="roundRect">
            <a:avLst>
              <a:gd name="adj" fmla="val 20008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317191" y="1282601"/>
            <a:ext cx="10362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Started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470350" y="1244501"/>
            <a:ext cx="1015901" cy="253901"/>
          </a:xfrm>
          <a:prstGeom prst="roundRect">
            <a:avLst>
              <a:gd name="adj" fmla="val 20008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460191" y="1282601"/>
            <a:ext cx="10362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More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8864501" y="444401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862469" y="469850"/>
            <a:ext cx="2072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0" y="1676400"/>
            <a:ext cx="9144000" cy="571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0" y="2243137"/>
            <a:ext cx="91440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-22860" y="1739801"/>
            <a:ext cx="23317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1,247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-22860" y="1943100"/>
            <a:ext cx="233172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USERS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2263140" y="1739801"/>
            <a:ext cx="23317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358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263140" y="1943100"/>
            <a:ext cx="233172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4549140" y="1739801"/>
            <a:ext cx="23317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49140" y="1943100"/>
            <a:ext cx="233172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UPTIME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6835140" y="1739801"/>
            <a:ext cx="23317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35140" y="1943100"/>
            <a:ext cx="233172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8864501" y="171450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8862469" y="1739801"/>
            <a:ext cx="2072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90500" y="2374850"/>
            <a:ext cx="5715000" cy="241295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90500" y="2374850"/>
            <a:ext cx="5715000" cy="27935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17450" y="2412950"/>
            <a:ext cx="25906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 Board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143500" y="2425601"/>
            <a:ext cx="571500" cy="177701"/>
          </a:xfrm>
          <a:prstGeom prst="roundRect">
            <a:avLst>
              <a:gd name="adj" fmla="val 50028"/>
            </a:avLst>
          </a:prstGeom>
          <a:solidFill>
            <a:srgbClr val="8080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137785" y="2438400"/>
            <a:ext cx="5829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New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53901" y="2705100"/>
            <a:ext cx="56996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     Category     Title                                                            Date     Views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190500" y="2857500"/>
            <a:ext cx="5715000" cy="12650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253901" y="2895600"/>
            <a:ext cx="56996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    Notice     System maintenance scheduled for March 15th          2026-03-10   342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190500" y="3048000"/>
            <a:ext cx="5715000" cy="12650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253901" y="3086100"/>
            <a:ext cx="56996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    Event      Annual developer conference registration open      2026-03-08   567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190500" y="3238500"/>
            <a:ext cx="5715000" cy="12650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253901" y="3276600"/>
            <a:ext cx="56996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    Update    Platform version 3.2 release notes                     2026-03-05   891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190500" y="3429000"/>
            <a:ext cx="5715000" cy="12650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253901" y="3467100"/>
            <a:ext cx="56996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    FAQ         How to reset your account password                    2026-03-03   1,204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190500" y="3619500"/>
            <a:ext cx="5715000" cy="12650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253901" y="3657600"/>
            <a:ext cx="56996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    Notice     New privacy policy effective April 1st                   2026-03-01   456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6032450" y="2374850"/>
            <a:ext cx="2920901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159401" y="2438400"/>
            <a:ext cx="27203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Updates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159401" y="2603450"/>
            <a:ext cx="2667000" cy="1265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159401" y="2667000"/>
            <a:ext cx="272034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v2.5 released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6159401" y="2819400"/>
            <a:ext cx="272034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redesign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6159401" y="2971800"/>
            <a:ext cx="272034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 update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6159401" y="3124200"/>
            <a:ext cx="272034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patch applied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6032450" y="3619500"/>
            <a:ext cx="2920901" cy="1168301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159401" y="3682901"/>
            <a:ext cx="27203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Links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159401" y="3848100"/>
            <a:ext cx="2667000" cy="1265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6159401" y="3936950"/>
            <a:ext cx="1269950" cy="355550"/>
          </a:xfrm>
          <a:prstGeom prst="roundRect">
            <a:avLst>
              <a:gd name="adj" fmla="val 14288"/>
            </a:avLst>
          </a:prstGeom>
          <a:solidFill>
            <a:srgbClr val="E0E0E0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6146701" y="4025801"/>
            <a:ext cx="12953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7556450" y="3936950"/>
            <a:ext cx="1269950" cy="355550"/>
          </a:xfrm>
          <a:prstGeom prst="roundRect">
            <a:avLst>
              <a:gd name="adj" fmla="val 14288"/>
            </a:avLst>
          </a:prstGeom>
          <a:solidFill>
            <a:srgbClr val="E0E0E0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7543751" y="4025801"/>
            <a:ext cx="12953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6159401" y="4368701"/>
            <a:ext cx="1269950" cy="355550"/>
          </a:xfrm>
          <a:prstGeom prst="roundRect">
            <a:avLst>
              <a:gd name="adj" fmla="val 14288"/>
            </a:avLst>
          </a:prstGeom>
          <a:solidFill>
            <a:srgbClr val="E0E0E0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6146701" y="4457700"/>
            <a:ext cx="12953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7556450" y="4368701"/>
            <a:ext cx="1269950" cy="355550"/>
          </a:xfrm>
          <a:prstGeom prst="roundRect">
            <a:avLst>
              <a:gd name="adj" fmla="val 14288"/>
            </a:avLst>
          </a:prstGeom>
          <a:solidFill>
            <a:srgbClr val="E0E0E0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7543751" y="4457700"/>
            <a:ext cx="12953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8864501" y="241295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8862469" y="2438400"/>
            <a:ext cx="2072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190500" y="4914900"/>
            <a:ext cx="8763000" cy="17145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317450" y="4978301"/>
            <a:ext cx="51815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 &amp; Line Rendering Test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317450" y="5156150"/>
            <a:ext cx="8508950" cy="12650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571500" y="5270450"/>
            <a:ext cx="634901" cy="381000"/>
          </a:xfrm>
          <a:prstGeom prst="roundRect">
            <a:avLst>
              <a:gd name="adj" fmla="val 6667"/>
            </a:avLst>
          </a:prstGeom>
          <a:solidFill>
            <a:srgbClr val="8080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370841" y="5689550"/>
            <a:ext cx="103621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5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Rectangle</a:t>
            </a:r>
            <a:endParaRPr lang="en-US" sz="550" dirty="0"/>
          </a:p>
        </p:txBody>
      </p:sp>
      <p:sp>
        <p:nvSpPr>
          <p:cNvPr id="69" name="Text 67"/>
          <p:cNvSpPr/>
          <p:nvPr/>
        </p:nvSpPr>
        <p:spPr>
          <a:xfrm>
            <a:off x="2222450" y="5270450"/>
            <a:ext cx="634901" cy="381000"/>
          </a:xfrm>
          <a:prstGeom prst="roundRect">
            <a:avLst>
              <a:gd name="adj" fmla="val 26667"/>
            </a:avLst>
          </a:prstGeom>
          <a:solidFill>
            <a:srgbClr val="8080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2021791" y="5689550"/>
            <a:ext cx="103621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5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Rounded Rect</a:t>
            </a:r>
            <a:endParaRPr lang="en-US" sz="550" dirty="0"/>
          </a:p>
        </p:txBody>
      </p:sp>
      <p:sp>
        <p:nvSpPr>
          <p:cNvPr id="71" name="Text 69"/>
          <p:cNvSpPr/>
          <p:nvPr/>
        </p:nvSpPr>
        <p:spPr>
          <a:xfrm>
            <a:off x="3936950" y="5232350"/>
            <a:ext cx="444401" cy="444401"/>
          </a:xfrm>
          <a:prstGeom prst="roundRect">
            <a:avLst>
              <a:gd name="adj" fmla="val 205760"/>
            </a:avLst>
          </a:prstGeom>
          <a:solidFill>
            <a:srgbClr val="8080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3673376" y="5715000"/>
            <a:ext cx="9715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5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</a:t>
            </a:r>
            <a:endParaRPr lang="en-US" sz="550" dirty="0"/>
          </a:p>
        </p:txBody>
      </p:sp>
      <p:sp>
        <p:nvSpPr>
          <p:cNvPr id="73" name="Text 71"/>
          <p:cNvSpPr/>
          <p:nvPr/>
        </p:nvSpPr>
        <p:spPr>
          <a:xfrm>
            <a:off x="5460950" y="5270450"/>
            <a:ext cx="634901" cy="381000"/>
          </a:xfrm>
          <a:prstGeom prst="roundRect">
            <a:avLst>
              <a:gd name="adj" fmla="val 13333"/>
            </a:avLst>
          </a:prstGeom>
          <a:noFill/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5260291" y="5689550"/>
            <a:ext cx="103621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5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 Only</a:t>
            </a:r>
            <a:endParaRPr lang="en-US" sz="550" dirty="0"/>
          </a:p>
        </p:txBody>
      </p:sp>
      <p:sp>
        <p:nvSpPr>
          <p:cNvPr id="75" name="Text 73"/>
          <p:cNvSpPr/>
          <p:nvPr/>
        </p:nvSpPr>
        <p:spPr>
          <a:xfrm>
            <a:off x="7111901" y="5270450"/>
            <a:ext cx="634901" cy="381000"/>
          </a:xfrm>
          <a:prstGeom prst="roundRect">
            <a:avLst>
              <a:gd name="adj" fmla="val 13333"/>
            </a:avLst>
          </a:prstGeom>
          <a:solidFill>
            <a:srgbClr val="808080"/>
          </a:solidFill>
          <a:ln/>
          <a:effectLst>
            <a:outerShdw sx="100000" sy="100000" kx="0" ky="0" algn="bl" rotWithShape="0" blurRad="76200" dist="35921" dir="270000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6911242" y="5689550"/>
            <a:ext cx="103621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5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 Shadow</a:t>
            </a:r>
            <a:endParaRPr lang="en-US" sz="550" dirty="0"/>
          </a:p>
        </p:txBody>
      </p:sp>
      <p:sp>
        <p:nvSpPr>
          <p:cNvPr id="77" name="Text 75"/>
          <p:cNvSpPr/>
          <p:nvPr/>
        </p:nvSpPr>
        <p:spPr>
          <a:xfrm>
            <a:off x="698450" y="5994350"/>
            <a:ext cx="762000" cy="253901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Shape 76"/>
          <p:cNvSpPr/>
          <p:nvPr/>
        </p:nvSpPr>
        <p:spPr>
          <a:xfrm>
            <a:off x="698450" y="6003875"/>
            <a:ext cx="762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96520" y="6286500"/>
            <a:ext cx="116586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5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Border</a:t>
            </a:r>
            <a:endParaRPr lang="en-US" sz="550" dirty="0"/>
          </a:p>
        </p:txBody>
      </p:sp>
      <p:sp>
        <p:nvSpPr>
          <p:cNvPr id="80" name="Text 78"/>
          <p:cNvSpPr/>
          <p:nvPr/>
        </p:nvSpPr>
        <p:spPr>
          <a:xfrm>
            <a:off x="2667000" y="5994350"/>
            <a:ext cx="762000" cy="253901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Shape 79"/>
          <p:cNvSpPr/>
          <p:nvPr/>
        </p:nvSpPr>
        <p:spPr>
          <a:xfrm>
            <a:off x="2676525" y="5994350"/>
            <a:ext cx="0" cy="253901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465070" y="6286500"/>
            <a:ext cx="116586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5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Border</a:t>
            </a:r>
            <a:endParaRPr lang="en-US" sz="550" dirty="0"/>
          </a:p>
        </p:txBody>
      </p:sp>
      <p:sp>
        <p:nvSpPr>
          <p:cNvPr id="83" name="Text 81"/>
          <p:cNvSpPr/>
          <p:nvPr/>
        </p:nvSpPr>
        <p:spPr>
          <a:xfrm>
            <a:off x="4698950" y="5994350"/>
            <a:ext cx="762000" cy="253901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Shape 82"/>
          <p:cNvSpPr/>
          <p:nvPr/>
        </p:nvSpPr>
        <p:spPr>
          <a:xfrm>
            <a:off x="4698950" y="6238726"/>
            <a:ext cx="762000" cy="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497020" y="6286500"/>
            <a:ext cx="116586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5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Border</a:t>
            </a:r>
            <a:endParaRPr lang="en-US" sz="550" dirty="0"/>
          </a:p>
        </p:txBody>
      </p:sp>
      <p:sp>
        <p:nvSpPr>
          <p:cNvPr id="86" name="Text 84"/>
          <p:cNvSpPr/>
          <p:nvPr/>
        </p:nvSpPr>
        <p:spPr>
          <a:xfrm>
            <a:off x="6730901" y="5994350"/>
            <a:ext cx="762000" cy="253901"/>
          </a:xfrm>
          <a:prstGeom prst="roundRect">
            <a:avLst>
              <a:gd name="adj" fmla="val 15006"/>
            </a:avLst>
          </a:prstGeom>
          <a:solidFill>
            <a:srgbClr val="E0E0E0"/>
          </a:solidFill>
          <a:ln w="9525">
            <a:solidFill>
              <a:srgbClr val="80808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Text 85"/>
          <p:cNvSpPr/>
          <p:nvPr/>
        </p:nvSpPr>
        <p:spPr>
          <a:xfrm>
            <a:off x="6528971" y="6286500"/>
            <a:ext cx="116586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5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Border</a:t>
            </a:r>
            <a:endParaRPr lang="en-US" sz="550" dirty="0"/>
          </a:p>
        </p:txBody>
      </p:sp>
      <p:sp>
        <p:nvSpPr>
          <p:cNvPr id="88" name="Text 86"/>
          <p:cNvSpPr/>
          <p:nvPr/>
        </p:nvSpPr>
        <p:spPr>
          <a:xfrm>
            <a:off x="8864501" y="495300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Text 87"/>
          <p:cNvSpPr/>
          <p:nvPr/>
        </p:nvSpPr>
        <p:spPr>
          <a:xfrm>
            <a:off x="8862469" y="4978301"/>
            <a:ext cx="2072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0" y="6756350"/>
            <a:ext cx="9144000" cy="1079450"/>
          </a:xfrm>
          <a:prstGeom prst="rect">
            <a:avLst/>
          </a:prstGeom>
          <a:solidFill>
            <a:srgbClr val="8080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Text 89"/>
          <p:cNvSpPr/>
          <p:nvPr/>
        </p:nvSpPr>
        <p:spPr>
          <a:xfrm>
            <a:off x="253901" y="6858000"/>
            <a:ext cx="28498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TestCorp Portal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253901" y="7023050"/>
            <a:ext cx="28498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comprehensive testing page designed to verify html2pptx conversion accuracy.</a:t>
            </a:r>
            <a:endParaRPr lang="en-US" sz="600" dirty="0"/>
          </a:p>
        </p:txBody>
      </p:sp>
      <p:sp>
        <p:nvSpPr>
          <p:cNvPr id="93" name="Text 91"/>
          <p:cNvSpPr/>
          <p:nvPr/>
        </p:nvSpPr>
        <p:spPr>
          <a:xfrm>
            <a:off x="3301901" y="6858000"/>
            <a:ext cx="12953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3301901" y="7010400"/>
            <a:ext cx="1295349" cy="111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0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Us</a:t>
            </a:r>
            <a:endParaRPr lang="en-US" sz="550" dirty="0"/>
          </a:p>
        </p:txBody>
      </p:sp>
      <p:sp>
        <p:nvSpPr>
          <p:cNvPr id="95" name="Text 93"/>
          <p:cNvSpPr/>
          <p:nvPr/>
        </p:nvSpPr>
        <p:spPr>
          <a:xfrm>
            <a:off x="3301901" y="7124700"/>
            <a:ext cx="129534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Careers</a:t>
            </a:r>
            <a:endParaRPr lang="en-US" sz="550" dirty="0"/>
          </a:p>
        </p:txBody>
      </p:sp>
      <p:sp>
        <p:nvSpPr>
          <p:cNvPr id="96" name="Text 94"/>
          <p:cNvSpPr/>
          <p:nvPr/>
        </p:nvSpPr>
        <p:spPr>
          <a:xfrm>
            <a:off x="3301901" y="7239000"/>
            <a:ext cx="129534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</a:t>
            </a:r>
            <a:endParaRPr lang="en-US" sz="550" dirty="0"/>
          </a:p>
        </p:txBody>
      </p:sp>
      <p:sp>
        <p:nvSpPr>
          <p:cNvPr id="97" name="Text 95"/>
          <p:cNvSpPr/>
          <p:nvPr/>
        </p:nvSpPr>
        <p:spPr>
          <a:xfrm>
            <a:off x="3301901" y="7353300"/>
            <a:ext cx="129534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</a:t>
            </a:r>
            <a:endParaRPr lang="en-US" sz="550" dirty="0"/>
          </a:p>
        </p:txBody>
      </p:sp>
      <p:sp>
        <p:nvSpPr>
          <p:cNvPr id="98" name="Text 96"/>
          <p:cNvSpPr/>
          <p:nvPr/>
        </p:nvSpPr>
        <p:spPr>
          <a:xfrm>
            <a:off x="5079950" y="6858000"/>
            <a:ext cx="155448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</a:t>
            </a:r>
            <a:endParaRPr lang="en-US" sz="700" dirty="0"/>
          </a:p>
        </p:txBody>
      </p:sp>
      <p:sp>
        <p:nvSpPr>
          <p:cNvPr id="99" name="Text 97"/>
          <p:cNvSpPr/>
          <p:nvPr/>
        </p:nvSpPr>
        <p:spPr>
          <a:xfrm>
            <a:off x="5079950" y="7010400"/>
            <a:ext cx="1554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</a:t>
            </a:r>
            <a:endParaRPr lang="en-US" sz="550" dirty="0"/>
          </a:p>
        </p:txBody>
      </p:sp>
      <p:sp>
        <p:nvSpPr>
          <p:cNvPr id="100" name="Text 98"/>
          <p:cNvSpPr/>
          <p:nvPr/>
        </p:nvSpPr>
        <p:spPr>
          <a:xfrm>
            <a:off x="5079950" y="7124700"/>
            <a:ext cx="1554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Reference</a:t>
            </a:r>
            <a:endParaRPr lang="en-US" sz="550" dirty="0"/>
          </a:p>
        </p:txBody>
      </p:sp>
      <p:sp>
        <p:nvSpPr>
          <p:cNvPr id="101" name="Text 99"/>
          <p:cNvSpPr/>
          <p:nvPr/>
        </p:nvSpPr>
        <p:spPr>
          <a:xfrm>
            <a:off x="5079950" y="7239000"/>
            <a:ext cx="1554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Page</a:t>
            </a:r>
            <a:endParaRPr lang="en-US" sz="550" dirty="0"/>
          </a:p>
        </p:txBody>
      </p:sp>
      <p:sp>
        <p:nvSpPr>
          <p:cNvPr id="102" name="Text 100"/>
          <p:cNvSpPr/>
          <p:nvPr/>
        </p:nvSpPr>
        <p:spPr>
          <a:xfrm>
            <a:off x="5079950" y="7353300"/>
            <a:ext cx="1554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Changelog</a:t>
            </a:r>
            <a:endParaRPr lang="en-US" sz="550" dirty="0"/>
          </a:p>
        </p:txBody>
      </p:sp>
      <p:sp>
        <p:nvSpPr>
          <p:cNvPr id="103" name="Text 101"/>
          <p:cNvSpPr/>
          <p:nvPr/>
        </p:nvSpPr>
        <p:spPr>
          <a:xfrm>
            <a:off x="7048500" y="6858000"/>
            <a:ext cx="155448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</a:t>
            </a:r>
            <a:endParaRPr lang="en-US" sz="700" dirty="0"/>
          </a:p>
        </p:txBody>
      </p:sp>
      <p:sp>
        <p:nvSpPr>
          <p:cNvPr id="104" name="Text 102"/>
          <p:cNvSpPr/>
          <p:nvPr/>
        </p:nvSpPr>
        <p:spPr>
          <a:xfrm>
            <a:off x="7048500" y="7010400"/>
            <a:ext cx="1554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Policy</a:t>
            </a:r>
            <a:endParaRPr lang="en-US" sz="550" dirty="0"/>
          </a:p>
        </p:txBody>
      </p:sp>
      <p:sp>
        <p:nvSpPr>
          <p:cNvPr id="105" name="Text 103"/>
          <p:cNvSpPr/>
          <p:nvPr/>
        </p:nvSpPr>
        <p:spPr>
          <a:xfrm>
            <a:off x="7048500" y="7124700"/>
            <a:ext cx="1554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Terms of Service</a:t>
            </a:r>
            <a:endParaRPr lang="en-US" sz="550" dirty="0"/>
          </a:p>
        </p:txBody>
      </p:sp>
      <p:sp>
        <p:nvSpPr>
          <p:cNvPr id="106" name="Text 104"/>
          <p:cNvSpPr/>
          <p:nvPr/>
        </p:nvSpPr>
        <p:spPr>
          <a:xfrm>
            <a:off x="7048500" y="7239000"/>
            <a:ext cx="1554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Cookie Policy</a:t>
            </a:r>
            <a:endParaRPr lang="en-US" sz="550" dirty="0"/>
          </a:p>
        </p:txBody>
      </p:sp>
      <p:sp>
        <p:nvSpPr>
          <p:cNvPr id="107" name="Text 105"/>
          <p:cNvSpPr/>
          <p:nvPr/>
        </p:nvSpPr>
        <p:spPr>
          <a:xfrm>
            <a:off x="7048500" y="7353300"/>
            <a:ext cx="1554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GDPR</a:t>
            </a:r>
            <a:endParaRPr lang="en-US" sz="550" dirty="0"/>
          </a:p>
        </p:txBody>
      </p:sp>
      <p:sp>
        <p:nvSpPr>
          <p:cNvPr id="108" name="Text 106"/>
          <p:cNvSpPr/>
          <p:nvPr/>
        </p:nvSpPr>
        <p:spPr>
          <a:xfrm>
            <a:off x="253901" y="7531001"/>
            <a:ext cx="8635901" cy="126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9" name="Text 107"/>
          <p:cNvSpPr/>
          <p:nvPr/>
        </p:nvSpPr>
        <p:spPr>
          <a:xfrm>
            <a:off x="253901" y="7594550"/>
            <a:ext cx="45337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TestCorp. All rights reserved.</a:t>
            </a:r>
            <a:endParaRPr lang="en-US" sz="550" dirty="0"/>
          </a:p>
        </p:txBody>
      </p:sp>
      <p:sp>
        <p:nvSpPr>
          <p:cNvPr id="110" name="Text 108"/>
          <p:cNvSpPr/>
          <p:nvPr/>
        </p:nvSpPr>
        <p:spPr>
          <a:xfrm>
            <a:off x="6299103" y="7594550"/>
            <a:ext cx="25906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  Twitter   LinkedIn</a:t>
            </a:r>
            <a:endParaRPr lang="en-US" sz="550" dirty="0"/>
          </a:p>
        </p:txBody>
      </p:sp>
      <p:sp>
        <p:nvSpPr>
          <p:cNvPr id="111" name="Text 109"/>
          <p:cNvSpPr/>
          <p:nvPr/>
        </p:nvSpPr>
        <p:spPr>
          <a:xfrm>
            <a:off x="8864501" y="679445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2" name="Text 110"/>
          <p:cNvSpPr/>
          <p:nvPr/>
        </p:nvSpPr>
        <p:spPr>
          <a:xfrm>
            <a:off x="8862469" y="6819900"/>
            <a:ext cx="2072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113" name="Text 111"/>
          <p:cNvSpPr/>
          <p:nvPr/>
        </p:nvSpPr>
        <p:spPr>
          <a:xfrm>
            <a:off x="0" y="0"/>
            <a:ext cx="253901" cy="253901"/>
          </a:xfrm>
          <a:prstGeom prst="rect">
            <a:avLst/>
          </a:prstGeom>
          <a:solidFill>
            <a:srgbClr val="8080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4" name="Text 112"/>
          <p:cNvSpPr/>
          <p:nvPr/>
        </p:nvSpPr>
        <p:spPr>
          <a:xfrm>
            <a:off x="-2539" y="50750"/>
            <a:ext cx="25897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</a:t>
            </a:r>
            <a:endParaRPr lang="en-US" sz="600" dirty="0"/>
          </a:p>
        </p:txBody>
      </p:sp>
      <p:sp>
        <p:nvSpPr>
          <p:cNvPr id="115" name="Text 113"/>
          <p:cNvSpPr/>
          <p:nvPr/>
        </p:nvSpPr>
        <p:spPr>
          <a:xfrm>
            <a:off x="8889950" y="0"/>
            <a:ext cx="253901" cy="253901"/>
          </a:xfrm>
          <a:prstGeom prst="rect">
            <a:avLst/>
          </a:prstGeom>
          <a:solidFill>
            <a:srgbClr val="8080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6" name="Text 114"/>
          <p:cNvSpPr/>
          <p:nvPr/>
        </p:nvSpPr>
        <p:spPr>
          <a:xfrm>
            <a:off x="8887411" y="50750"/>
            <a:ext cx="25897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</a:t>
            </a:r>
            <a:endParaRPr lang="en-US" sz="600" dirty="0"/>
          </a:p>
        </p:txBody>
      </p:sp>
      <p:sp>
        <p:nvSpPr>
          <p:cNvPr id="117" name="Text 115"/>
          <p:cNvSpPr/>
          <p:nvPr/>
        </p:nvSpPr>
        <p:spPr>
          <a:xfrm>
            <a:off x="0" y="8889950"/>
            <a:ext cx="253901" cy="253901"/>
          </a:xfrm>
          <a:prstGeom prst="rect">
            <a:avLst/>
          </a:prstGeom>
          <a:solidFill>
            <a:srgbClr val="8080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8" name="Text 116"/>
          <p:cNvSpPr/>
          <p:nvPr/>
        </p:nvSpPr>
        <p:spPr>
          <a:xfrm>
            <a:off x="-2539" y="8940701"/>
            <a:ext cx="25897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</a:t>
            </a:r>
            <a:endParaRPr lang="en-US" sz="600" dirty="0"/>
          </a:p>
        </p:txBody>
      </p:sp>
      <p:sp>
        <p:nvSpPr>
          <p:cNvPr id="119" name="Text 117"/>
          <p:cNvSpPr/>
          <p:nvPr/>
        </p:nvSpPr>
        <p:spPr>
          <a:xfrm>
            <a:off x="8889950" y="8889950"/>
            <a:ext cx="253901" cy="253901"/>
          </a:xfrm>
          <a:prstGeom prst="roundRect">
            <a:avLst>
              <a:gd name="adj" fmla="val 20008"/>
            </a:avLst>
          </a:prstGeom>
          <a:solidFill>
            <a:srgbClr val="8080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0" name="Text 118"/>
          <p:cNvSpPr/>
          <p:nvPr/>
        </p:nvSpPr>
        <p:spPr>
          <a:xfrm>
            <a:off x="8887411" y="8940701"/>
            <a:ext cx="25897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</a:t>
            </a:r>
            <a:endParaRPr lang="en-US" sz="600" dirty="0"/>
          </a:p>
        </p:txBody>
      </p:sp>
      <p:sp>
        <p:nvSpPr>
          <p:cNvPr id="121" name="Text 119"/>
          <p:cNvSpPr/>
          <p:nvPr/>
        </p:nvSpPr>
        <p:spPr>
          <a:xfrm>
            <a:off x="4381500" y="438150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8080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2" name="Text 120"/>
          <p:cNvSpPr/>
          <p:nvPr/>
        </p:nvSpPr>
        <p:spPr>
          <a:xfrm>
            <a:off x="4377690" y="4457700"/>
            <a:ext cx="38862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</a:t>
            </a:r>
            <a:endParaRPr lang="en-US" sz="550" dirty="0"/>
          </a:p>
        </p:txBody>
      </p:sp>
      <p:sp>
        <p:nvSpPr>
          <p:cNvPr id="123" name="Text 121"/>
          <p:cNvSpPr/>
          <p:nvPr/>
        </p:nvSpPr>
        <p:spPr>
          <a:xfrm>
            <a:off x="4191000" y="431795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4" name="Text 122"/>
          <p:cNvSpPr/>
          <p:nvPr/>
        </p:nvSpPr>
        <p:spPr>
          <a:xfrm>
            <a:off x="4188968" y="4343400"/>
            <a:ext cx="2072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125" name="Text 123"/>
          <p:cNvSpPr/>
          <p:nvPr/>
        </p:nvSpPr>
        <p:spPr>
          <a:xfrm>
            <a:off x="9144000" y="0"/>
            <a:ext cx="3492401" cy="9144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6" name="Shape 124"/>
          <p:cNvSpPr/>
          <p:nvPr/>
        </p:nvSpPr>
        <p:spPr>
          <a:xfrm>
            <a:off x="9148763" y="0"/>
            <a:ext cx="0" cy="914400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9344025" y="152400"/>
            <a:ext cx="31639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TestCorp Portal</a:t>
            </a:r>
            <a:endParaRPr lang="en-US" sz="1100" dirty="0"/>
          </a:p>
        </p:txBody>
      </p:sp>
      <p:sp>
        <p:nvSpPr>
          <p:cNvPr id="128" name="Text 126"/>
          <p:cNvSpPr/>
          <p:nvPr/>
        </p:nvSpPr>
        <p:spPr>
          <a:xfrm>
            <a:off x="9344025" y="342900"/>
            <a:ext cx="31639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Wireframe Specification</a:t>
            </a:r>
            <a:endParaRPr lang="en-US" sz="800" dirty="0"/>
          </a:p>
        </p:txBody>
      </p:sp>
      <p:sp>
        <p:nvSpPr>
          <p:cNvPr id="129" name="Text 127"/>
          <p:cNvSpPr/>
          <p:nvPr/>
        </p:nvSpPr>
        <p:spPr>
          <a:xfrm>
            <a:off x="9344025" y="482501"/>
            <a:ext cx="316391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65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mode: wireframe | 1 slide | 7 sections</a:t>
            </a:r>
            <a:endParaRPr lang="en-US" sz="650" dirty="0"/>
          </a:p>
        </p:txBody>
      </p:sp>
      <p:sp>
        <p:nvSpPr>
          <p:cNvPr id="130" name="Shape 128"/>
          <p:cNvSpPr/>
          <p:nvPr/>
        </p:nvSpPr>
        <p:spPr>
          <a:xfrm>
            <a:off x="9344025" y="684014"/>
            <a:ext cx="3111401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9344025" y="790277"/>
            <a:ext cx="31639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  Header Nav</a:t>
            </a:r>
            <a:endParaRPr lang="en-US" sz="800" dirty="0"/>
          </a:p>
        </p:txBody>
      </p:sp>
      <p:sp>
        <p:nvSpPr>
          <p:cNvPr id="132" name="Text 130"/>
          <p:cNvSpPr/>
          <p:nvPr/>
        </p:nvSpPr>
        <p:spPr>
          <a:xfrm>
            <a:off x="9344025" y="929878"/>
            <a:ext cx="3163913" cy="9525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#1E3A5F bg, 64px tall, 3px blue bottom border</a:t>
            </a:r>
            <a:endParaRPr lang="en-US" sz="650" dirty="0"/>
          </a:p>
        </p:txBody>
      </p:sp>
      <p:sp>
        <p:nvSpPr>
          <p:cNvPr id="133" name="Text 131"/>
          <p:cNvSpPr/>
          <p:nvPr/>
        </p:nvSpPr>
        <p:spPr>
          <a:xfrm>
            <a:off x="9344025" y="1037779"/>
            <a:ext cx="3163913" cy="9525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65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 (22px bold) + 5 nav links (Home active)</a:t>
            </a:r>
            <a:endParaRPr lang="en-US" sz="650" dirty="0"/>
          </a:p>
        </p:txBody>
      </p:sp>
      <p:sp>
        <p:nvSpPr>
          <p:cNvPr id="134" name="Text 132"/>
          <p:cNvSpPr/>
          <p:nvPr/>
        </p:nvSpPr>
        <p:spPr>
          <a:xfrm>
            <a:off x="9344025" y="1209229"/>
            <a:ext cx="31639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  Hero Section</a:t>
            </a:r>
            <a:endParaRPr lang="en-US" sz="800" dirty="0"/>
          </a:p>
        </p:txBody>
      </p:sp>
      <p:sp>
        <p:nvSpPr>
          <p:cNvPr id="135" name="Text 133"/>
          <p:cNvSpPr/>
          <p:nvPr/>
        </p:nvSpPr>
        <p:spPr>
          <a:xfrm>
            <a:off x="9344025" y="1348829"/>
            <a:ext cx="3163913" cy="9525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#2B6CB0 bg, 80px top/bottom padding</a:t>
            </a:r>
            <a:endParaRPr lang="en-US" sz="650" dirty="0"/>
          </a:p>
        </p:txBody>
      </p:sp>
      <p:sp>
        <p:nvSpPr>
          <p:cNvPr id="136" name="Text 134"/>
          <p:cNvSpPr/>
          <p:nvPr/>
        </p:nvSpPr>
        <p:spPr>
          <a:xfrm>
            <a:off x="9344025" y="1456730"/>
            <a:ext cx="3163913" cy="9525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(42px/800wt), subtitle (18px/#BEE3F8)</a:t>
            </a:r>
            <a:endParaRPr lang="en-US" sz="650" dirty="0"/>
          </a:p>
        </p:txBody>
      </p:sp>
      <p:sp>
        <p:nvSpPr>
          <p:cNvPr id="137" name="Text 135"/>
          <p:cNvSpPr/>
          <p:nvPr/>
        </p:nvSpPr>
        <p:spPr>
          <a:xfrm>
            <a:off x="9344025" y="1564630"/>
            <a:ext cx="3163913" cy="9525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65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CTA: Get Started (#E53E3E) + Learn More (border)</a:t>
            </a:r>
            <a:endParaRPr lang="en-US" sz="650" dirty="0"/>
          </a:p>
        </p:txBody>
      </p:sp>
      <p:sp>
        <p:nvSpPr>
          <p:cNvPr id="138" name="Text 136"/>
          <p:cNvSpPr/>
          <p:nvPr/>
        </p:nvSpPr>
        <p:spPr>
          <a:xfrm>
            <a:off x="9344025" y="1736080"/>
            <a:ext cx="31639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  Stats Bar</a:t>
            </a:r>
            <a:endParaRPr lang="en-US" sz="800" dirty="0"/>
          </a:p>
        </p:txBody>
      </p:sp>
      <p:sp>
        <p:nvSpPr>
          <p:cNvPr id="139" name="Text 137"/>
          <p:cNvSpPr/>
          <p:nvPr/>
        </p:nvSpPr>
        <p:spPr>
          <a:xfrm>
            <a:off x="9344025" y="1875681"/>
            <a:ext cx="3163913" cy="9525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#FFFFFF bg, 1px bottom border #E2E8F0</a:t>
            </a:r>
            <a:endParaRPr lang="en-US" sz="650" dirty="0"/>
          </a:p>
        </p:txBody>
      </p:sp>
      <p:sp>
        <p:nvSpPr>
          <p:cNvPr id="140" name="Text 138"/>
          <p:cNvSpPr/>
          <p:nvPr/>
        </p:nvSpPr>
        <p:spPr>
          <a:xfrm>
            <a:off x="9344025" y="1983581"/>
            <a:ext cx="3163913" cy="9525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65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stats: 1,247 | 358 | 99.9% | 24/7 (32px/#2B6CB0)</a:t>
            </a:r>
            <a:endParaRPr lang="en-US" sz="650" dirty="0"/>
          </a:p>
        </p:txBody>
      </p:sp>
      <p:sp>
        <p:nvSpPr>
          <p:cNvPr id="141" name="Text 139"/>
          <p:cNvSpPr/>
          <p:nvPr/>
        </p:nvSpPr>
        <p:spPr>
          <a:xfrm>
            <a:off x="9344025" y="2155031"/>
            <a:ext cx="31639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  Board + Sidebar</a:t>
            </a:r>
            <a:endParaRPr lang="en-US" sz="800" dirty="0"/>
          </a:p>
        </p:txBody>
      </p:sp>
      <p:sp>
        <p:nvSpPr>
          <p:cNvPr id="142" name="Text 140"/>
          <p:cNvSpPr/>
          <p:nvPr/>
        </p:nvSpPr>
        <p:spPr>
          <a:xfrm>
            <a:off x="9344025" y="2294632"/>
            <a:ext cx="3163913" cy="9525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2-column: Board (flex:2) + Sidebar (flex:1)</a:t>
            </a:r>
            <a:endParaRPr lang="en-US" sz="650" dirty="0"/>
          </a:p>
        </p:txBody>
      </p:sp>
      <p:sp>
        <p:nvSpPr>
          <p:cNvPr id="143" name="Text 141"/>
          <p:cNvSpPr/>
          <p:nvPr/>
        </p:nvSpPr>
        <p:spPr>
          <a:xfrm>
            <a:off x="9344025" y="2402532"/>
            <a:ext cx="3163913" cy="9525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Board: 5x5 table, 4 tag colors, #2D3748 header</a:t>
            </a:r>
            <a:endParaRPr lang="en-US" sz="650" dirty="0"/>
          </a:p>
        </p:txBody>
      </p:sp>
      <p:sp>
        <p:nvSpPr>
          <p:cNvPr id="144" name="Text 142"/>
          <p:cNvSpPr/>
          <p:nvPr/>
        </p:nvSpPr>
        <p:spPr>
          <a:xfrm>
            <a:off x="9344025" y="2510433"/>
            <a:ext cx="3163913" cy="9525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65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Sidebar: Recent Updates list + Quick Links 2x2</a:t>
            </a:r>
            <a:endParaRPr lang="en-US" sz="650" dirty="0"/>
          </a:p>
        </p:txBody>
      </p:sp>
      <p:sp>
        <p:nvSpPr>
          <p:cNvPr id="145" name="Text 143"/>
          <p:cNvSpPr/>
          <p:nvPr/>
        </p:nvSpPr>
        <p:spPr>
          <a:xfrm>
            <a:off x="9344025" y="2681883"/>
            <a:ext cx="31639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  Shape &amp; Line Test</a:t>
            </a:r>
            <a:endParaRPr lang="en-US" sz="800" dirty="0"/>
          </a:p>
        </p:txBody>
      </p:sp>
      <p:sp>
        <p:nvSpPr>
          <p:cNvPr id="146" name="Text 144"/>
          <p:cNvSpPr/>
          <p:nvPr/>
        </p:nvSpPr>
        <p:spPr>
          <a:xfrm>
            <a:off x="9344025" y="2821484"/>
            <a:ext cx="3163913" cy="9525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shapes: rect, rounded, circle, border, shadow</a:t>
            </a:r>
            <a:endParaRPr lang="en-US" sz="650" dirty="0"/>
          </a:p>
        </p:txBody>
      </p:sp>
      <p:sp>
        <p:nvSpPr>
          <p:cNvPr id="147" name="Text 145"/>
          <p:cNvSpPr/>
          <p:nvPr/>
        </p:nvSpPr>
        <p:spPr>
          <a:xfrm>
            <a:off x="9344025" y="2929384"/>
            <a:ext cx="3163913" cy="9525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65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lines: top/left/bottom border + full border</a:t>
            </a:r>
            <a:endParaRPr lang="en-US" sz="650" dirty="0"/>
          </a:p>
        </p:txBody>
      </p:sp>
      <p:sp>
        <p:nvSpPr>
          <p:cNvPr id="148" name="Text 146"/>
          <p:cNvSpPr/>
          <p:nvPr/>
        </p:nvSpPr>
        <p:spPr>
          <a:xfrm>
            <a:off x="9344025" y="3100834"/>
            <a:ext cx="31639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  Footer</a:t>
            </a:r>
            <a:endParaRPr lang="en-US" sz="800" dirty="0"/>
          </a:p>
        </p:txBody>
      </p:sp>
      <p:sp>
        <p:nvSpPr>
          <p:cNvPr id="149" name="Text 147"/>
          <p:cNvSpPr/>
          <p:nvPr/>
        </p:nvSpPr>
        <p:spPr>
          <a:xfrm>
            <a:off x="9344025" y="3240435"/>
            <a:ext cx="3163913" cy="9525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#1A202C bg, 4-column grid (2fr+1fr+1fr+1fr)</a:t>
            </a:r>
            <a:endParaRPr lang="en-US" sz="650" dirty="0"/>
          </a:p>
        </p:txBody>
      </p:sp>
      <p:sp>
        <p:nvSpPr>
          <p:cNvPr id="150" name="Text 148"/>
          <p:cNvSpPr/>
          <p:nvPr/>
        </p:nvSpPr>
        <p:spPr>
          <a:xfrm>
            <a:off x="9344025" y="3348335"/>
            <a:ext cx="3163913" cy="9525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65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Company/Resources/Legal links + social bar</a:t>
            </a:r>
            <a:endParaRPr lang="en-US" sz="650" dirty="0"/>
          </a:p>
        </p:txBody>
      </p:sp>
      <p:sp>
        <p:nvSpPr>
          <p:cNvPr id="151" name="Text 149"/>
          <p:cNvSpPr/>
          <p:nvPr/>
        </p:nvSpPr>
        <p:spPr>
          <a:xfrm>
            <a:off x="9344025" y="3519785"/>
            <a:ext cx="31639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  Corner Markers</a:t>
            </a:r>
            <a:endParaRPr lang="en-US" sz="800" dirty="0"/>
          </a:p>
        </p:txBody>
      </p:sp>
      <p:sp>
        <p:nvSpPr>
          <p:cNvPr id="152" name="Text 150"/>
          <p:cNvSpPr/>
          <p:nvPr/>
        </p:nvSpPr>
        <p:spPr>
          <a:xfrm>
            <a:off x="9344025" y="3659386"/>
            <a:ext cx="3163913" cy="9525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markers: TL(red) TR(blue) BL(green) BR(gold)</a:t>
            </a:r>
            <a:endParaRPr lang="en-US" sz="650" dirty="0"/>
          </a:p>
        </p:txBody>
      </p:sp>
      <p:sp>
        <p:nvSpPr>
          <p:cNvPr id="153" name="Text 151"/>
          <p:cNvSpPr/>
          <p:nvPr/>
        </p:nvSpPr>
        <p:spPr>
          <a:xfrm>
            <a:off x="9344025" y="3767286"/>
            <a:ext cx="3163913" cy="9525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65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CTR(purple, 60px circle at center)</a:t>
            </a:r>
            <a:endParaRPr lang="en-US" sz="650" dirty="0"/>
          </a:p>
        </p:txBody>
      </p:sp>
      <p:sp>
        <p:nvSpPr>
          <p:cNvPr id="154" name="Shape 152"/>
          <p:cNvSpPr/>
          <p:nvPr/>
        </p:nvSpPr>
        <p:spPr>
          <a:xfrm>
            <a:off x="9344025" y="3968800"/>
            <a:ext cx="3111401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9344025" y="4049762"/>
            <a:ext cx="316391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Mapping</a:t>
            </a:r>
            <a:endParaRPr lang="en-US" sz="700" dirty="0"/>
          </a:p>
        </p:txBody>
      </p:sp>
      <p:sp>
        <p:nvSpPr>
          <p:cNvPr id="156" name="Text 154"/>
          <p:cNvSpPr/>
          <p:nvPr/>
        </p:nvSpPr>
        <p:spPr>
          <a:xfrm>
            <a:off x="9344025" y="4170313"/>
            <a:ext cx="316391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6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bg (#1E3A5F, #2B6CB0, #1A202C) → #808080</a:t>
            </a:r>
            <a:endParaRPr lang="en-US" sz="600" dirty="0"/>
          </a:p>
        </p:txBody>
      </p:sp>
      <p:sp>
        <p:nvSpPr>
          <p:cNvPr id="157" name="Text 155"/>
          <p:cNvSpPr/>
          <p:nvPr/>
        </p:nvSpPr>
        <p:spPr>
          <a:xfrm>
            <a:off x="9344025" y="4268688"/>
            <a:ext cx="316391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6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 (#E53E3E, #2D3748) → #000000</a:t>
            </a:r>
            <a:endParaRPr lang="en-US" sz="600" dirty="0"/>
          </a:p>
        </p:txBody>
      </p:sp>
      <p:sp>
        <p:nvSpPr>
          <p:cNvPr id="158" name="Text 156"/>
          <p:cNvSpPr/>
          <p:nvPr/>
        </p:nvSpPr>
        <p:spPr>
          <a:xfrm>
            <a:off x="9344025" y="4367064"/>
            <a:ext cx="316391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6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bg (#F5F5F5, #F7FAFC, tags) → #E0E0E0</a:t>
            </a:r>
            <a:endParaRPr lang="en-US" sz="600" dirty="0"/>
          </a:p>
        </p:txBody>
      </p:sp>
      <p:sp>
        <p:nvSpPr>
          <p:cNvPr id="159" name="Text 157"/>
          <p:cNvSpPr/>
          <p:nvPr/>
        </p:nvSpPr>
        <p:spPr>
          <a:xfrm>
            <a:off x="9344025" y="4465439"/>
            <a:ext cx="316391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6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Card/content (#FFFFFF) → #FFFFFF</a:t>
            </a:r>
            <a:endParaRPr lang="en-US" sz="600" dirty="0"/>
          </a:p>
        </p:txBody>
      </p:sp>
      <p:sp>
        <p:nvSpPr>
          <p:cNvPr id="160" name="Text 158"/>
          <p:cNvSpPr/>
          <p:nvPr/>
        </p:nvSpPr>
        <p:spPr>
          <a:xfrm>
            <a:off x="9344025" y="4627364"/>
            <a:ext cx="316391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UI elements | 4 wireframe colors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TestCorp Portal Wireframe</dc:title>
  <dc:subject>PptxGenJS Presentation</dc:subject>
  <dc:creator>html2pptx</dc:creator>
  <cp:lastModifiedBy>html2pptx</cp:lastModifiedBy>
  <cp:revision>1</cp:revision>
  <dcterms:created xsi:type="dcterms:W3CDTF">2026-03-12T00:31:29Z</dcterms:created>
  <dcterms:modified xsi:type="dcterms:W3CDTF">2026-03-12T00:31:29Z</dcterms:modified>
</cp:coreProperties>
</file>