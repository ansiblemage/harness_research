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684500" cy="18364200"/>
  <p:notesSz cx="18364200" cy="1568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09600"/>
            <a:ext cx="12192000" cy="28575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23317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51015" y="126950"/>
            <a:ext cx="7124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852615" y="126950"/>
            <a:ext cx="8807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022715" y="126950"/>
            <a:ext cx="7124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025966" y="126950"/>
            <a:ext cx="7124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027566" y="126950"/>
            <a:ext cx="8807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0" y="507950"/>
            <a:ext cx="698450" cy="190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634901"/>
            <a:ext cx="12192000" cy="24765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5320" y="1079450"/>
            <a:ext cx="108813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TestCorp Portal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2209800" y="1676400"/>
            <a:ext cx="77724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layout verification page for html2pptx conversion testing. It includes header navigation, hero content, board section, shape tests, and footer structure.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17950" y="2514600"/>
            <a:ext cx="1524000" cy="431750"/>
          </a:xfrm>
          <a:prstGeom prst="roundRect">
            <a:avLst>
              <a:gd name="adj" fmla="val 17649"/>
            </a:avLst>
          </a:prstGeom>
          <a:solidFill>
            <a:srgbClr val="80808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22141" y="2533650"/>
            <a:ext cx="1515618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94350" y="2514600"/>
            <a:ext cx="1524000" cy="431750"/>
          </a:xfrm>
          <a:prstGeom prst="roundRect">
            <a:avLst>
              <a:gd name="adj" fmla="val 17649"/>
            </a:avLst>
          </a:prstGeom>
          <a:solidFill>
            <a:srgbClr val="808080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8541" y="2533650"/>
            <a:ext cx="1515618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3111401"/>
            <a:ext cx="121920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0" y="4013150"/>
            <a:ext cx="12192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52171" y="3238500"/>
            <a:ext cx="18134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52171" y="3632150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919171" y="3238500"/>
            <a:ext cx="18134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19171" y="3632150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586171" y="3238500"/>
            <a:ext cx="18134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586171" y="3632150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253171" y="3238500"/>
            <a:ext cx="18134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53171" y="3632150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81000" y="4483001"/>
            <a:ext cx="7492901" cy="431795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1000" y="4483001"/>
            <a:ext cx="7492901" cy="482501"/>
          </a:xfrm>
          <a:prstGeom prst="roundRect">
            <a:avLst>
              <a:gd name="adj" fmla="val 23689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4546550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Board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59501" y="4584650"/>
            <a:ext cx="711101" cy="279350"/>
          </a:xfrm>
          <a:prstGeom prst="roundRect">
            <a:avLst>
              <a:gd name="adj" fmla="val 68194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52390" y="4584650"/>
            <a:ext cx="725323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1000" y="4965650"/>
            <a:ext cx="7492901" cy="3555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3400" y="4991100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269950" y="4991100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2324100" y="4991100"/>
            <a:ext cx="3238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600700" y="4991100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654701" y="4991100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381000" y="5321201"/>
            <a:ext cx="7492901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33400" y="5384750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69950" y="5537150"/>
            <a:ext cx="698450" cy="253901"/>
          </a:xfrm>
          <a:prstGeom prst="roundRect">
            <a:avLst>
              <a:gd name="adj" fmla="val 45018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62966" y="5537150"/>
            <a:ext cx="71241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24100" y="5384750"/>
            <a:ext cx="3238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maintenance scheduled for March 15th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00700" y="53847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54701" y="5384750"/>
            <a:ext cx="725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81000" y="5994350"/>
            <a:ext cx="7492901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33400" y="6032450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269950" y="6184850"/>
            <a:ext cx="698450" cy="253901"/>
          </a:xfrm>
          <a:prstGeom prst="roundRect">
            <a:avLst>
              <a:gd name="adj" fmla="val 45018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262966" y="6184850"/>
            <a:ext cx="71241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324100" y="6032450"/>
            <a:ext cx="3238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developer conference registration open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00700" y="60324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2026-03-08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654701" y="6032450"/>
            <a:ext cx="725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567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1000" y="6642050"/>
            <a:ext cx="7492901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33400" y="6680150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269950" y="6832550"/>
            <a:ext cx="698450" cy="253901"/>
          </a:xfrm>
          <a:prstGeom prst="roundRect">
            <a:avLst>
              <a:gd name="adj" fmla="val 45018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262966" y="6832550"/>
            <a:ext cx="71241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324100" y="6680150"/>
            <a:ext cx="3238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version 3.2 release notes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00700" y="6680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2026-03-05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654701" y="6680150"/>
            <a:ext cx="725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81000" y="7289750"/>
            <a:ext cx="7492901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33400" y="7327850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269950" y="7480250"/>
            <a:ext cx="698450" cy="253901"/>
          </a:xfrm>
          <a:prstGeom prst="roundRect">
            <a:avLst>
              <a:gd name="adj" fmla="val 45018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262966" y="7480250"/>
            <a:ext cx="71241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324100" y="7327850"/>
            <a:ext cx="3238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reset your account password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600700" y="73278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654701" y="7327850"/>
            <a:ext cx="725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81000" y="7937450"/>
            <a:ext cx="7492901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33400" y="7975550"/>
            <a:ext cx="6475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269950" y="8127950"/>
            <a:ext cx="698450" cy="253901"/>
          </a:xfrm>
          <a:prstGeom prst="roundRect">
            <a:avLst>
              <a:gd name="adj" fmla="val 45018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262966" y="8127950"/>
            <a:ext cx="71241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324100" y="7975550"/>
            <a:ext cx="3238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privacy policy effective April 1st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600700" y="79755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2026-03-01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654701" y="7975550"/>
            <a:ext cx="725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178701" y="4483001"/>
            <a:ext cx="36321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407301" y="4711601"/>
            <a:ext cx="32384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Updates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407301" y="5054501"/>
            <a:ext cx="3174950" cy="190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8407301" y="51561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v2.5 released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1036808" y="515615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407301" y="5537150"/>
            <a:ext cx="3174950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407301" y="558790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redesign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11036808" y="5587901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407301" y="5968901"/>
            <a:ext cx="3174950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8407301" y="601980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update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1036808" y="601980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03-05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407301" y="6400800"/>
            <a:ext cx="3174950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407301" y="64515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patch applied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11036808" y="645155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178701" y="7378601"/>
            <a:ext cx="36321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8407301" y="7607201"/>
            <a:ext cx="32384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8407301" y="7950101"/>
            <a:ext cx="3174950" cy="190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8407301" y="8077200"/>
            <a:ext cx="1511201" cy="711101"/>
          </a:xfrm>
          <a:prstGeom prst="roundRect">
            <a:avLst>
              <a:gd name="adj" fmla="val 10716"/>
            </a:avLst>
          </a:prstGeom>
          <a:solidFill>
            <a:srgbClr val="E0E0E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8401904" y="8086725"/>
            <a:ext cx="1521994" cy="574625"/>
          </a:xfrm>
          <a:prstGeom prst="rect">
            <a:avLst/>
          </a:prstGeom>
          <a:noFill/>
          <a:ln/>
        </p:spPr>
        <p:txBody>
          <a:bodyPr wrap="square" lIns="0" tIns="43180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975" dirty="0"/>
          </a:p>
        </p:txBody>
      </p:sp>
      <p:sp>
        <p:nvSpPr>
          <p:cNvPr id="93" name="Text 91"/>
          <p:cNvSpPr/>
          <p:nvPr/>
        </p:nvSpPr>
        <p:spPr>
          <a:xfrm>
            <a:off x="10071050" y="8077200"/>
            <a:ext cx="1511201" cy="711101"/>
          </a:xfrm>
          <a:prstGeom prst="roundRect">
            <a:avLst>
              <a:gd name="adj" fmla="val 10716"/>
            </a:avLst>
          </a:prstGeom>
          <a:solidFill>
            <a:srgbClr val="E0E0E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10065654" y="8086725"/>
            <a:ext cx="1521994" cy="574625"/>
          </a:xfrm>
          <a:prstGeom prst="rect">
            <a:avLst/>
          </a:prstGeom>
          <a:noFill/>
          <a:ln/>
        </p:spPr>
        <p:txBody>
          <a:bodyPr wrap="square" lIns="0" tIns="43180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75" dirty="0"/>
          </a:p>
        </p:txBody>
      </p:sp>
      <p:sp>
        <p:nvSpPr>
          <p:cNvPr id="95" name="Text 93"/>
          <p:cNvSpPr/>
          <p:nvPr/>
        </p:nvSpPr>
        <p:spPr>
          <a:xfrm>
            <a:off x="8407301" y="8902601"/>
            <a:ext cx="1511201" cy="711101"/>
          </a:xfrm>
          <a:prstGeom prst="roundRect">
            <a:avLst>
              <a:gd name="adj" fmla="val 10716"/>
            </a:avLst>
          </a:prstGeom>
          <a:solidFill>
            <a:srgbClr val="E0E0E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8401904" y="8912126"/>
            <a:ext cx="1521994" cy="574625"/>
          </a:xfrm>
          <a:prstGeom prst="rect">
            <a:avLst/>
          </a:prstGeom>
          <a:noFill/>
          <a:ln/>
        </p:spPr>
        <p:txBody>
          <a:bodyPr wrap="square" lIns="0" tIns="43180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975" dirty="0"/>
          </a:p>
        </p:txBody>
      </p:sp>
      <p:sp>
        <p:nvSpPr>
          <p:cNvPr id="97" name="Text 95"/>
          <p:cNvSpPr/>
          <p:nvPr/>
        </p:nvSpPr>
        <p:spPr>
          <a:xfrm>
            <a:off x="10071050" y="8902601"/>
            <a:ext cx="1511201" cy="711101"/>
          </a:xfrm>
          <a:prstGeom prst="roundRect">
            <a:avLst>
              <a:gd name="adj" fmla="val 10716"/>
            </a:avLst>
          </a:prstGeom>
          <a:solidFill>
            <a:srgbClr val="E0E0E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10065654" y="8912126"/>
            <a:ext cx="1521994" cy="574625"/>
          </a:xfrm>
          <a:prstGeom prst="rect">
            <a:avLst/>
          </a:prstGeom>
          <a:noFill/>
          <a:ln/>
        </p:spPr>
        <p:txBody>
          <a:bodyPr wrap="square" lIns="0" tIns="43180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75" dirty="0"/>
          </a:p>
        </p:txBody>
      </p:sp>
      <p:sp>
        <p:nvSpPr>
          <p:cNvPr id="99" name="Text 97"/>
          <p:cNvSpPr/>
          <p:nvPr/>
        </p:nvSpPr>
        <p:spPr>
          <a:xfrm>
            <a:off x="381000" y="10287000"/>
            <a:ext cx="11430000" cy="3682901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685800" y="10591800"/>
            <a:ext cx="51815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&amp; Line Rendering Test</a:t>
            </a:r>
            <a:endParaRPr lang="en-US" sz="1500" dirty="0"/>
          </a:p>
        </p:txBody>
      </p:sp>
      <p:sp>
        <p:nvSpPr>
          <p:cNvPr id="101" name="Text 99"/>
          <p:cNvSpPr/>
          <p:nvPr/>
        </p:nvSpPr>
        <p:spPr>
          <a:xfrm>
            <a:off x="685800" y="10972800"/>
            <a:ext cx="10820400" cy="190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1066800" y="11226701"/>
            <a:ext cx="952500" cy="571500"/>
          </a:xfrm>
          <a:prstGeom prst="roundRect">
            <a:avLst>
              <a:gd name="adj" fmla="val 6667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733327" y="11861750"/>
            <a:ext cx="16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radius)</a:t>
            </a:r>
            <a:endParaRPr lang="en-US" sz="825" dirty="0"/>
          </a:p>
        </p:txBody>
      </p:sp>
      <p:sp>
        <p:nvSpPr>
          <p:cNvPr id="104" name="Text 102"/>
          <p:cNvSpPr/>
          <p:nvPr/>
        </p:nvSpPr>
        <p:spPr>
          <a:xfrm>
            <a:off x="3352800" y="11226701"/>
            <a:ext cx="952500" cy="571500"/>
          </a:xfrm>
          <a:prstGeom prst="roundRect">
            <a:avLst>
              <a:gd name="adj" fmla="val 26667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3019327" y="11861750"/>
            <a:ext cx="16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Rect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(16px radius)</a:t>
            </a:r>
            <a:endParaRPr lang="en-US" sz="825" dirty="0"/>
          </a:p>
        </p:txBody>
      </p:sp>
      <p:sp>
        <p:nvSpPr>
          <p:cNvPr id="106" name="Text 104"/>
          <p:cNvSpPr/>
          <p:nvPr/>
        </p:nvSpPr>
        <p:spPr>
          <a:xfrm>
            <a:off x="5460950" y="11175950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5305327" y="11861750"/>
            <a:ext cx="16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(50% radius)</a:t>
            </a:r>
            <a:endParaRPr lang="en-US" sz="825" dirty="0"/>
          </a:p>
        </p:txBody>
      </p:sp>
      <p:sp>
        <p:nvSpPr>
          <p:cNvPr id="108" name="Text 106"/>
          <p:cNvSpPr/>
          <p:nvPr/>
        </p:nvSpPr>
        <p:spPr>
          <a:xfrm>
            <a:off x="7924800" y="11226701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7591327" y="11861750"/>
            <a:ext cx="16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Only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(3px solid)</a:t>
            </a:r>
            <a:endParaRPr lang="en-US" sz="825" dirty="0"/>
          </a:p>
        </p:txBody>
      </p:sp>
      <p:sp>
        <p:nvSpPr>
          <p:cNvPr id="110" name="Text 108"/>
          <p:cNvSpPr/>
          <p:nvPr/>
        </p:nvSpPr>
        <p:spPr>
          <a:xfrm>
            <a:off x="10210800" y="11226701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808080"/>
          </a:solidFill>
          <a:ln/>
          <a:effectLst>
            <a:outerShdw sx="100000" sy="100000" kx="0" ky="0" algn="bl" rotWithShape="0" blurRad="114300" dist="5388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9877327" y="11861750"/>
            <a:ext cx="16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Shadow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offset)</a:t>
            </a:r>
            <a:endParaRPr lang="en-US" sz="825" dirty="0"/>
          </a:p>
        </p:txBody>
      </p:sp>
      <p:sp>
        <p:nvSpPr>
          <p:cNvPr id="112" name="Text 110"/>
          <p:cNvSpPr/>
          <p:nvPr/>
        </p:nvSpPr>
        <p:spPr>
          <a:xfrm>
            <a:off x="952500" y="12509450"/>
            <a:ext cx="1143000" cy="381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Shape 111"/>
          <p:cNvSpPr/>
          <p:nvPr/>
        </p:nvSpPr>
        <p:spPr>
          <a:xfrm>
            <a:off x="952500" y="12528500"/>
            <a:ext cx="11430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17122" y="12954000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Border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red)</a:t>
            </a:r>
            <a:endParaRPr lang="en-US" sz="825" dirty="0"/>
          </a:p>
        </p:txBody>
      </p:sp>
      <p:sp>
        <p:nvSpPr>
          <p:cNvPr id="115" name="Text 113"/>
          <p:cNvSpPr/>
          <p:nvPr/>
        </p:nvSpPr>
        <p:spPr>
          <a:xfrm>
            <a:off x="3619500" y="12509450"/>
            <a:ext cx="1143000" cy="381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Shape 114"/>
          <p:cNvSpPr/>
          <p:nvPr/>
        </p:nvSpPr>
        <p:spPr>
          <a:xfrm>
            <a:off x="3638550" y="1250945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84122" y="12954000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Border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blue)</a:t>
            </a:r>
            <a:endParaRPr lang="en-US" sz="825" dirty="0"/>
          </a:p>
        </p:txBody>
      </p:sp>
      <p:sp>
        <p:nvSpPr>
          <p:cNvPr id="118" name="Text 116"/>
          <p:cNvSpPr/>
          <p:nvPr/>
        </p:nvSpPr>
        <p:spPr>
          <a:xfrm>
            <a:off x="6286500" y="12509450"/>
            <a:ext cx="1143000" cy="381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Shape 117"/>
          <p:cNvSpPr/>
          <p:nvPr/>
        </p:nvSpPr>
        <p:spPr>
          <a:xfrm>
            <a:off x="6286500" y="12871400"/>
            <a:ext cx="11430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951122" y="12954000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Border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green)</a:t>
            </a:r>
            <a:endParaRPr lang="en-US" sz="825" dirty="0"/>
          </a:p>
        </p:txBody>
      </p:sp>
      <p:sp>
        <p:nvSpPr>
          <p:cNvPr id="121" name="Text 119"/>
          <p:cNvSpPr/>
          <p:nvPr/>
        </p:nvSpPr>
        <p:spPr>
          <a:xfrm>
            <a:off x="8953500" y="12509450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E0E0E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8618122" y="12954000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Border</a:t>
            </a:r>
            <a:endParaRPr lang="en-US" sz="825" dirty="0"/>
          </a:p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(2px gold)</a:t>
            </a:r>
            <a:endParaRPr lang="en-US" sz="825" dirty="0"/>
          </a:p>
        </p:txBody>
      </p:sp>
      <p:sp>
        <p:nvSpPr>
          <p:cNvPr id="123" name="Text 121"/>
          <p:cNvSpPr/>
          <p:nvPr/>
        </p:nvSpPr>
        <p:spPr>
          <a:xfrm>
            <a:off x="0" y="14478000"/>
            <a:ext cx="12192000" cy="38862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22"/>
          <p:cNvSpPr/>
          <p:nvPr/>
        </p:nvSpPr>
        <p:spPr>
          <a:xfrm>
            <a:off x="571500" y="14935200"/>
            <a:ext cx="4274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571500" y="15290750"/>
            <a:ext cx="427482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testing page designed to verify html2pptx conversion accuracy. This page includes navigation, hero sections, data tables, shape rendering, line borders, and footer layouts.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5334000" y="14935200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5334000" y="15290750"/>
            <a:ext cx="1813459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050" dirty="0"/>
          </a:p>
        </p:txBody>
      </p:sp>
      <p:sp>
        <p:nvSpPr>
          <p:cNvPr id="128" name="Text 126"/>
          <p:cNvSpPr/>
          <p:nvPr/>
        </p:nvSpPr>
        <p:spPr>
          <a:xfrm>
            <a:off x="7492901" y="14935200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29" name="Text 127"/>
          <p:cNvSpPr/>
          <p:nvPr/>
        </p:nvSpPr>
        <p:spPr>
          <a:xfrm>
            <a:off x="7492901" y="15290750"/>
            <a:ext cx="1943100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Reference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Page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</a:t>
            </a:r>
            <a:endParaRPr lang="en-US" sz="1050" dirty="0"/>
          </a:p>
        </p:txBody>
      </p:sp>
      <p:sp>
        <p:nvSpPr>
          <p:cNvPr id="130" name="Text 128"/>
          <p:cNvSpPr/>
          <p:nvPr/>
        </p:nvSpPr>
        <p:spPr>
          <a:xfrm>
            <a:off x="9778901" y="14935200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9778901" y="15290750"/>
            <a:ext cx="1943100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Policy</a:t>
            </a:r>
            <a:endParaRPr lang="en-US" sz="10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1050" dirty="0"/>
          </a:p>
        </p:txBody>
      </p:sp>
      <p:sp>
        <p:nvSpPr>
          <p:cNvPr id="132" name="Text 130"/>
          <p:cNvSpPr/>
          <p:nvPr/>
        </p:nvSpPr>
        <p:spPr>
          <a:xfrm>
            <a:off x="571500" y="17526000"/>
            <a:ext cx="11049000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Text 131"/>
          <p:cNvSpPr/>
          <p:nvPr/>
        </p:nvSpPr>
        <p:spPr>
          <a:xfrm>
            <a:off x="571500" y="17754600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TestCorp. All rights reserved.</a:t>
            </a:r>
            <a:endParaRPr lang="en-US" sz="975" dirty="0"/>
          </a:p>
        </p:txBody>
      </p:sp>
      <p:sp>
        <p:nvSpPr>
          <p:cNvPr id="134" name="Text 132"/>
          <p:cNvSpPr/>
          <p:nvPr/>
        </p:nvSpPr>
        <p:spPr>
          <a:xfrm>
            <a:off x="9479280" y="17754600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  Twitter    LinkedIn</a:t>
            </a:r>
            <a:endParaRPr lang="en-US" sz="975" dirty="0"/>
          </a:p>
        </p:txBody>
      </p:sp>
      <p:sp>
        <p:nvSpPr>
          <p:cNvPr id="135" name="Text 133"/>
          <p:cNvSpPr/>
          <p:nvPr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Text 134"/>
          <p:cNvSpPr/>
          <p:nvPr/>
        </p:nvSpPr>
        <p:spPr>
          <a:xfrm>
            <a:off x="-3810" y="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11811000" y="0"/>
            <a:ext cx="381000" cy="3810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Text 136"/>
          <p:cNvSpPr/>
          <p:nvPr/>
        </p:nvSpPr>
        <p:spPr>
          <a:xfrm>
            <a:off x="11807190" y="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0" y="17983200"/>
            <a:ext cx="381000" cy="3810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-3810" y="179832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11811000" y="179832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Text 140"/>
          <p:cNvSpPr/>
          <p:nvPr/>
        </p:nvSpPr>
        <p:spPr>
          <a:xfrm>
            <a:off x="11807190" y="179832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5715000" y="88011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Text 142"/>
          <p:cNvSpPr/>
          <p:nvPr/>
        </p:nvSpPr>
        <p:spPr>
          <a:xfrm>
            <a:off x="5709285" y="8801100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675" dirty="0"/>
          </a:p>
        </p:txBody>
      </p:sp>
      <p:sp>
        <p:nvSpPr>
          <p:cNvPr id="145" name="Text 143"/>
          <p:cNvSpPr/>
          <p:nvPr/>
        </p:nvSpPr>
        <p:spPr>
          <a:xfrm>
            <a:off x="12192000" y="0"/>
            <a:ext cx="3492401" cy="18364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Shape 144"/>
          <p:cNvSpPr/>
          <p:nvPr/>
        </p:nvSpPr>
        <p:spPr>
          <a:xfrm>
            <a:off x="12196763" y="0"/>
            <a:ext cx="0" cy="183642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9226" y="463451"/>
            <a:ext cx="31274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2379226" y="177701"/>
            <a:ext cx="3190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설명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12379226" y="650677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코너 마커</a:t>
            </a:r>
            <a:endParaRPr lang="en-US" sz="1050" dirty="0"/>
          </a:p>
        </p:txBody>
      </p:sp>
      <p:sp>
        <p:nvSpPr>
          <p:cNvPr id="150" name="Text 148"/>
          <p:cNvSpPr/>
          <p:nvPr/>
        </p:nvSpPr>
        <p:spPr>
          <a:xfrm>
            <a:off x="12518827" y="847427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네 꼭짓점 및 정중앙에 배치된 좌표 검증용 오버레이 마커. TL(빨강), TR(파랑), BL(초록), BR(금색), CENTER(보라) 5개 마커로 PPTX 변환 시 좌표 매핑 정확도를 검증한다.</a:t>
            </a:r>
            <a:endParaRPr lang="en-US" sz="975" dirty="0"/>
          </a:p>
        </p:txBody>
      </p:sp>
      <p:sp>
        <p:nvSpPr>
          <p:cNvPr id="151" name="Text 149"/>
          <p:cNvSpPr/>
          <p:nvPr/>
        </p:nvSpPr>
        <p:spPr>
          <a:xfrm>
            <a:off x="12379226" y="1672828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헤더 네비게이션</a:t>
            </a:r>
            <a:endParaRPr lang="en-US" sz="1050" dirty="0"/>
          </a:p>
        </p:txBody>
      </p:sp>
      <p:sp>
        <p:nvSpPr>
          <p:cNvPr id="152" name="Text 150"/>
          <p:cNvSpPr/>
          <p:nvPr/>
        </p:nvSpPr>
        <p:spPr>
          <a:xfrm>
            <a:off x="12518827" y="1869579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'TestCorp Portal' 브랜드 로고와 우측 네비게이션 메뉴(Home, Services, Board, About, Contact) 5개 링크로 구성. 어두운 네이비 배경 위에 밝은 텍스트 배치, 하단 파란색 구분선으로 본문과 시각적 분리.</a:t>
            </a:r>
            <a:endParaRPr lang="en-US" sz="975" dirty="0"/>
          </a:p>
        </p:txBody>
      </p:sp>
      <p:sp>
        <p:nvSpPr>
          <p:cNvPr id="153" name="Text 151"/>
          <p:cNvSpPr/>
          <p:nvPr/>
        </p:nvSpPr>
        <p:spPr>
          <a:xfrm>
            <a:off x="12379226" y="2694980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히어로 섹션</a:t>
            </a:r>
            <a:endParaRPr lang="en-US" sz="1050" dirty="0"/>
          </a:p>
        </p:txBody>
      </p:sp>
      <p:sp>
        <p:nvSpPr>
          <p:cNvPr id="154" name="Text 152"/>
          <p:cNvSpPr/>
          <p:nvPr/>
        </p:nvSpPr>
        <p:spPr>
          <a:xfrm>
            <a:off x="12518827" y="2891730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배너. 'Welcome to TestCorp Portal' 대형 제목, html2pptx 변환 테스트 안내 부제목, CTA 버튼 2개(Get Started 채움형, Learn More 테두리형)를 파란 배경 위 중앙 정렬로 배치.</a:t>
            </a:r>
            <a:endParaRPr lang="en-US" sz="975" dirty="0"/>
          </a:p>
        </p:txBody>
      </p:sp>
      <p:sp>
        <p:nvSpPr>
          <p:cNvPr id="155" name="Text 153"/>
          <p:cNvSpPr/>
          <p:nvPr/>
        </p:nvSpPr>
        <p:spPr>
          <a:xfrm>
            <a:off x="12379226" y="3717131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통계 요약 바</a:t>
            </a:r>
            <a:endParaRPr lang="en-US" sz="1050" dirty="0"/>
          </a:p>
        </p:txBody>
      </p:sp>
      <p:sp>
        <p:nvSpPr>
          <p:cNvPr id="156" name="Text 154"/>
          <p:cNvSpPr/>
          <p:nvPr/>
        </p:nvSpPr>
        <p:spPr>
          <a:xfrm>
            <a:off x="12518827" y="3913882"/>
            <a:ext cx="304763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서비스 지표 4개를 수평 균등 배치. 1,247 Active Users, 358 Projects, 99.9% Uptime, 24/7 Support. 큰 파란 숫자와 작은 회색 라벨의 대비로 정보 위계 표현.</a:t>
            </a:r>
            <a:endParaRPr lang="en-US" sz="975" dirty="0"/>
          </a:p>
        </p:txBody>
      </p:sp>
      <p:sp>
        <p:nvSpPr>
          <p:cNvPr id="157" name="Text 155"/>
          <p:cNvSpPr/>
          <p:nvPr/>
        </p:nvSpPr>
        <p:spPr>
          <a:xfrm>
            <a:off x="12379226" y="4577358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게시판 (Notice Board)</a:t>
            </a:r>
            <a:endParaRPr lang="en-US" sz="1050" dirty="0"/>
          </a:p>
        </p:txBody>
      </p:sp>
      <p:sp>
        <p:nvSpPr>
          <p:cNvPr id="158" name="Text 156"/>
          <p:cNvSpPr/>
          <p:nvPr/>
        </p:nvSpPr>
        <p:spPr>
          <a:xfrm>
            <a:off x="12518827" y="4774109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테이블. 'Notice Board' 제목 + '5 New' 뱃지. 5열(No, Category, Title, Date, Views) x 5행 구성. Notice(빨강), Event(초록), Update(파랑), FAQ(노랑) 카테고리별 컬러 태그로 시각 구분.</a:t>
            </a:r>
            <a:endParaRPr lang="en-US" sz="975" dirty="0"/>
          </a:p>
        </p:txBody>
      </p:sp>
      <p:sp>
        <p:nvSpPr>
          <p:cNvPr id="159" name="Text 157"/>
          <p:cNvSpPr/>
          <p:nvPr/>
        </p:nvSpPr>
        <p:spPr>
          <a:xfrm>
            <a:off x="12379226" y="5599509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사이드바</a:t>
            </a:r>
            <a:endParaRPr lang="en-US" sz="1050" dirty="0"/>
          </a:p>
        </p:txBody>
      </p:sp>
      <p:sp>
        <p:nvSpPr>
          <p:cNvPr id="160" name="Text 158"/>
          <p:cNvSpPr/>
          <p:nvPr/>
        </p:nvSpPr>
        <p:spPr>
          <a:xfrm>
            <a:off x="12518827" y="5796260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Updates 카드(최근 업데이트 4건 리스트)와 Quick Links 카드(Docs, Support, Reports, Settings 2x2 그리드) 2개 카드로 구성. 흰 배경, 둥근 모서리, 연한 테두리 카드 스타일.</a:t>
            </a:r>
            <a:endParaRPr lang="en-US" sz="975" dirty="0"/>
          </a:p>
        </p:txBody>
      </p:sp>
      <p:sp>
        <p:nvSpPr>
          <p:cNvPr id="161" name="Text 159"/>
          <p:cNvSpPr/>
          <p:nvPr/>
        </p:nvSpPr>
        <p:spPr>
          <a:xfrm>
            <a:off x="12379226" y="6621661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도형 &amp; 라인 테스트</a:t>
            </a:r>
            <a:endParaRPr lang="en-US" sz="1050" dirty="0"/>
          </a:p>
        </p:txBody>
      </p:sp>
      <p:sp>
        <p:nvSpPr>
          <p:cNvPr id="162" name="Text 160"/>
          <p:cNvSpPr/>
          <p:nvPr/>
        </p:nvSpPr>
        <p:spPr>
          <a:xfrm>
            <a:off x="12518827" y="6818412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도형 5종(Rectangle, Rounded Rect, Circle, Border Only, Box Shadow)과 라인 4종(Top Border, Left Border, Bottom Border, Full Border)으로 PPTX 렌더링 정확도를 검증하는 전용 테스트 영역.</a:t>
            </a:r>
            <a:endParaRPr lang="en-US" sz="975" dirty="0"/>
          </a:p>
        </p:txBody>
      </p:sp>
      <p:sp>
        <p:nvSpPr>
          <p:cNvPr id="163" name="Text 161"/>
          <p:cNvSpPr/>
          <p:nvPr/>
        </p:nvSpPr>
        <p:spPr>
          <a:xfrm>
            <a:off x="12379226" y="7643813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푸터</a:t>
            </a:r>
            <a:endParaRPr lang="en-US" sz="1050" dirty="0"/>
          </a:p>
        </p:txBody>
      </p:sp>
      <p:sp>
        <p:nvSpPr>
          <p:cNvPr id="164" name="Text 162"/>
          <p:cNvSpPr/>
          <p:nvPr/>
        </p:nvSpPr>
        <p:spPr>
          <a:xfrm>
            <a:off x="12518827" y="7840563"/>
            <a:ext cx="304763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 그리드 레이아웃. 컬럼1: TestCorp 소개, 컬럼2: Company(About Us, Careers, Press, Blog), 컬럼3: Resources(Documentation, API Reference, Status Page, Changelog), 컬럼4: Legal(Privacy Policy, Terms of Service, Cookie Policy, GDPR). 하단 바: 저작권 텍스트 + 소셜 링크(GitHub, Twitter, LinkedIn).</a:t>
            </a:r>
            <a:endParaRPr lang="en-US" sz="975" dirty="0"/>
          </a:p>
        </p:txBody>
      </p:sp>
      <p:sp>
        <p:nvSpPr>
          <p:cNvPr id="165" name="Text 163"/>
          <p:cNvSpPr/>
          <p:nvPr/>
        </p:nvSpPr>
        <p:spPr>
          <a:xfrm>
            <a:off x="634901" y="6349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Text 164"/>
          <p:cNvSpPr/>
          <p:nvPr/>
        </p:nvSpPr>
        <p:spPr>
          <a:xfrm>
            <a:off x="752084" y="7158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167" name="Text 165"/>
          <p:cNvSpPr/>
          <p:nvPr/>
        </p:nvSpPr>
        <p:spPr>
          <a:xfrm>
            <a:off x="304800" y="1524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Text 166"/>
          <p:cNvSpPr/>
          <p:nvPr/>
        </p:nvSpPr>
        <p:spPr>
          <a:xfrm>
            <a:off x="421983" y="233362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69" name="Text 167"/>
          <p:cNvSpPr/>
          <p:nvPr/>
        </p:nvSpPr>
        <p:spPr>
          <a:xfrm>
            <a:off x="304800" y="7873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Text 168"/>
          <p:cNvSpPr/>
          <p:nvPr/>
        </p:nvSpPr>
        <p:spPr>
          <a:xfrm>
            <a:off x="421983" y="8682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71" name="Text 169"/>
          <p:cNvSpPr/>
          <p:nvPr/>
        </p:nvSpPr>
        <p:spPr>
          <a:xfrm>
            <a:off x="304800" y="32638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Text 170"/>
          <p:cNvSpPr/>
          <p:nvPr/>
        </p:nvSpPr>
        <p:spPr>
          <a:xfrm>
            <a:off x="421983" y="33447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173" name="Text 171"/>
          <p:cNvSpPr/>
          <p:nvPr/>
        </p:nvSpPr>
        <p:spPr>
          <a:xfrm>
            <a:off x="304800" y="46354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Text 172"/>
          <p:cNvSpPr/>
          <p:nvPr/>
        </p:nvSpPr>
        <p:spPr>
          <a:xfrm>
            <a:off x="421983" y="47163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175" name="Text 173"/>
          <p:cNvSpPr/>
          <p:nvPr/>
        </p:nvSpPr>
        <p:spPr>
          <a:xfrm>
            <a:off x="8102501" y="46354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Text 174"/>
          <p:cNvSpPr/>
          <p:nvPr/>
        </p:nvSpPr>
        <p:spPr>
          <a:xfrm>
            <a:off x="8219684" y="47163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177" name="Text 175"/>
          <p:cNvSpPr/>
          <p:nvPr/>
        </p:nvSpPr>
        <p:spPr>
          <a:xfrm>
            <a:off x="304800" y="104394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Text 176"/>
          <p:cNvSpPr/>
          <p:nvPr/>
        </p:nvSpPr>
        <p:spPr>
          <a:xfrm>
            <a:off x="421983" y="105203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179" name="Text 177"/>
          <p:cNvSpPr/>
          <p:nvPr/>
        </p:nvSpPr>
        <p:spPr>
          <a:xfrm>
            <a:off x="304800" y="146304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Text 178"/>
          <p:cNvSpPr/>
          <p:nvPr/>
        </p:nvSpPr>
        <p:spPr>
          <a:xfrm>
            <a:off x="421983" y="147113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html2pptx-skill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html2pptx-converter</dc:creator>
  <cp:lastModifiedBy>html2pptx-converter</cp:lastModifiedBy>
  <cp:revision>1</cp:revision>
  <dcterms:created xsi:type="dcterms:W3CDTF">2026-03-12T03:18:17Z</dcterms:created>
  <dcterms:modified xsi:type="dcterms:W3CDTF">2026-03-12T03:18:17Z</dcterms:modified>
</cp:coreProperties>
</file>