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684500" cy="18364200"/>
  <p:notesSz cx="18364200" cy="1568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2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25906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29302" y="190500"/>
            <a:ext cx="51815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 Services    Board    About    Contact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634901"/>
            <a:ext cx="12192000" cy="279395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73431" y="1396901"/>
            <a:ext cx="9844989" cy="48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TestCorp Portal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09800" y="1968401"/>
            <a:ext cx="7772400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layout verification page for html2pptx conversion testing. It includes header navigation, hero content, board section, shape tests, and footer structure.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19600" y="2755702"/>
            <a:ext cx="1524000" cy="431750"/>
          </a:xfrm>
          <a:prstGeom prst="roundRect">
            <a:avLst>
              <a:gd name="adj" fmla="val 17649"/>
            </a:avLst>
          </a:prstGeom>
          <a:solidFill>
            <a:srgbClr val="808080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619" y="2885777"/>
            <a:ext cx="837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0" y="2755702"/>
            <a:ext cx="1524000" cy="431750"/>
          </a:xfrm>
          <a:prstGeom prst="roundRect">
            <a:avLst>
              <a:gd name="adj" fmla="val 17649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39019" y="2885777"/>
            <a:ext cx="837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3429000"/>
            <a:ext cx="12192000" cy="9016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0" y="4325838"/>
            <a:ext cx="12192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581400"/>
            <a:ext cx="15544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3936950"/>
            <a:ext cx="15544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48661" y="3581400"/>
            <a:ext cx="15544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048661" y="3936950"/>
            <a:ext cx="15544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8710" y="3581400"/>
            <a:ext cx="15544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8710" y="3936950"/>
            <a:ext cx="15544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28760" y="3581400"/>
            <a:ext cx="15544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28760" y="3936950"/>
            <a:ext cx="15544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1000" y="4787801"/>
            <a:ext cx="7416701" cy="3530501"/>
          </a:xfrm>
          <a:prstGeom prst="roundRect">
            <a:avLst>
              <a:gd name="adj" fmla="val 3238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0525" y="4797326"/>
            <a:ext cx="7416701" cy="482501"/>
          </a:xfrm>
          <a:prstGeom prst="roundRect">
            <a:avLst>
              <a:gd name="adj" fmla="val 23689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9125" y="4886176"/>
            <a:ext cx="259069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3725" y="4911626"/>
            <a:ext cx="660350" cy="253901"/>
          </a:xfrm>
          <a:prstGeom prst="roundRect">
            <a:avLst>
              <a:gd name="adj" fmla="val 75029"/>
            </a:avLst>
          </a:prstGeom>
          <a:solidFill>
            <a:srgbClr val="808080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105323" y="4971901"/>
            <a:ext cx="337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0525" y="5279827"/>
            <a:ext cx="7416701" cy="3555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90525" y="5625852"/>
            <a:ext cx="7416701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2925" y="5356027"/>
            <a:ext cx="647599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79475" y="5356027"/>
            <a:ext cx="971550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58926" y="5356027"/>
            <a:ext cx="3367939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87926" y="5356027"/>
            <a:ext cx="971550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30926" y="5356027"/>
            <a:ext cx="712419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0525" y="6062365"/>
            <a:ext cx="74167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925" y="5775127"/>
            <a:ext cx="6475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79475" y="5749677"/>
            <a:ext cx="698450" cy="2286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50407" y="5797302"/>
            <a:ext cx="356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58926" y="5775127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maintenance scheduled for March 15th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87926" y="5775127"/>
            <a:ext cx="9715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30926" y="5775127"/>
            <a:ext cx="71241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0525" y="6468814"/>
            <a:ext cx="74167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2925" y="6181576"/>
            <a:ext cx="6475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79475" y="6156127"/>
            <a:ext cx="634901" cy="2286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438138" y="6203752"/>
            <a:ext cx="317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358926" y="6181576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developer conference registration open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87926" y="6181576"/>
            <a:ext cx="9715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30926" y="6181576"/>
            <a:ext cx="71241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567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0525" y="6875264"/>
            <a:ext cx="74167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2925" y="6588026"/>
            <a:ext cx="6475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279475" y="6562576"/>
            <a:ext cx="698450" cy="2286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431127" y="6610201"/>
            <a:ext cx="3951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358926" y="6588026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version 3.2 release notes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787926" y="6588026"/>
            <a:ext cx="9715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30926" y="6588026"/>
            <a:ext cx="71241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90525" y="7281565"/>
            <a:ext cx="74167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2925" y="6994327"/>
            <a:ext cx="6475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279475" y="6968877"/>
            <a:ext cx="507950" cy="2286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413601" y="7016502"/>
            <a:ext cx="239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358926" y="6994327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reset your account password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787926" y="6994327"/>
            <a:ext cx="9715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2026-03-03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930926" y="6994327"/>
            <a:ext cx="71241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90525" y="7688014"/>
            <a:ext cx="74167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2925" y="7400776"/>
            <a:ext cx="6475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279475" y="7375327"/>
            <a:ext cx="698450" cy="2286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450407" y="7422952"/>
            <a:ext cx="356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358926" y="7400776"/>
            <a:ext cx="33679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privacy policy effective April 1st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787926" y="7400776"/>
            <a:ext cx="97155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2026-03-01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930926" y="7400776"/>
            <a:ext cx="71241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102501" y="4787801"/>
            <a:ext cx="3708350" cy="1968401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340626" y="4975027"/>
            <a:ext cx="331617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Updates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340626" y="5213152"/>
            <a:ext cx="325115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40626" y="5317927"/>
            <a:ext cx="233172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v2.5 released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1125432" y="5317927"/>
            <a:ext cx="4663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03-10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340626" y="5597426"/>
            <a:ext cx="233172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redesign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1125432" y="5597426"/>
            <a:ext cx="4663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03-08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340626" y="5876776"/>
            <a:ext cx="233172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update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1125432" y="5876776"/>
            <a:ext cx="4663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03-05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340626" y="6156127"/>
            <a:ext cx="233172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patch applied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1125432" y="6156127"/>
            <a:ext cx="4663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03-01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102501" y="6984950"/>
            <a:ext cx="37083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8340626" y="7172176"/>
            <a:ext cx="331617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Links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340626" y="7410301"/>
            <a:ext cx="325115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40626" y="7502426"/>
            <a:ext cx="1549301" cy="330101"/>
          </a:xfrm>
          <a:prstGeom prst="roundRect">
            <a:avLst>
              <a:gd name="adj" fmla="val 23084"/>
            </a:avLst>
          </a:prstGeom>
          <a:solidFill>
            <a:srgbClr val="E0E0E0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8956794" y="7596039"/>
            <a:ext cx="316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991576" y="7502426"/>
            <a:ext cx="1549301" cy="330101"/>
          </a:xfrm>
          <a:prstGeom prst="roundRect">
            <a:avLst>
              <a:gd name="adj" fmla="val 23084"/>
            </a:avLst>
          </a:prstGeom>
          <a:solidFill>
            <a:srgbClr val="E0E0E0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10518026" y="7596039"/>
            <a:ext cx="4964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340626" y="7908875"/>
            <a:ext cx="1549301" cy="330101"/>
          </a:xfrm>
          <a:prstGeom prst="roundRect">
            <a:avLst>
              <a:gd name="adj" fmla="val 23084"/>
            </a:avLst>
          </a:prstGeom>
          <a:solidFill>
            <a:srgbClr val="E0E0E0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8870567" y="8002488"/>
            <a:ext cx="4894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9991576" y="7908875"/>
            <a:ext cx="1549301" cy="330101"/>
          </a:xfrm>
          <a:prstGeom prst="roundRect">
            <a:avLst>
              <a:gd name="adj" fmla="val 23084"/>
            </a:avLst>
          </a:prstGeom>
          <a:solidFill>
            <a:srgbClr val="E0E0E0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10510739" y="8002488"/>
            <a:ext cx="51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81000" y="8775650"/>
            <a:ext cx="114300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695325" y="9013775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&amp; Line Rendering Test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695325" y="9302651"/>
            <a:ext cx="1079495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23925" y="9470975"/>
            <a:ext cx="952500" cy="571500"/>
          </a:xfrm>
          <a:prstGeom prst="roundRect">
            <a:avLst>
              <a:gd name="adj" fmla="val 6667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681356" y="10105876"/>
            <a:ext cx="142483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radius)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3019425" y="9470975"/>
            <a:ext cx="952500" cy="571500"/>
          </a:xfrm>
          <a:prstGeom prst="roundRect">
            <a:avLst>
              <a:gd name="adj" fmla="val 26667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2776856" y="10105876"/>
            <a:ext cx="142483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Rect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(16px radius)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203775" y="9420076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4938043" y="10105876"/>
            <a:ext cx="119166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(50% radius)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7172325" y="9470975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8080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6929756" y="10105876"/>
            <a:ext cx="142483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Only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(3px solid)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9267825" y="9470975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808080"/>
          </a:solidFill>
          <a:ln/>
          <a:effectLst>
            <a:outerShdw sx="100000" sy="100000" kx="0" ky="0" algn="bl" rotWithShape="0" blurRad="114300" dist="53882" dir="2700000">
              <a:srgbClr val="808080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9025256" y="10105876"/>
            <a:ext cx="142483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Shadow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offset)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923925" y="10677376"/>
            <a:ext cx="1143000" cy="381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Shape 104"/>
          <p:cNvSpPr/>
          <p:nvPr/>
        </p:nvSpPr>
        <p:spPr>
          <a:xfrm>
            <a:off x="923925" y="10696426"/>
            <a:ext cx="1143000" cy="0"/>
          </a:xfrm>
          <a:prstGeom prst="line">
            <a:avLst/>
          </a:prstGeom>
          <a:noFill/>
          <a:ln w="38100">
            <a:solidFill>
              <a:srgbClr val="80808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79323" y="11121926"/>
            <a:ext cx="163220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Border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red)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3438525" y="10677376"/>
            <a:ext cx="1143000" cy="381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Shape 107"/>
          <p:cNvSpPr/>
          <p:nvPr/>
        </p:nvSpPr>
        <p:spPr>
          <a:xfrm>
            <a:off x="3457575" y="10677376"/>
            <a:ext cx="0" cy="381000"/>
          </a:xfrm>
          <a:prstGeom prst="line">
            <a:avLst/>
          </a:prstGeom>
          <a:noFill/>
          <a:ln w="38100">
            <a:solidFill>
              <a:srgbClr val="80808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193923" y="11121926"/>
            <a:ext cx="163220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Border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blue)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953125" y="10677376"/>
            <a:ext cx="1143000" cy="381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Shape 110"/>
          <p:cNvSpPr/>
          <p:nvPr/>
        </p:nvSpPr>
        <p:spPr>
          <a:xfrm>
            <a:off x="5953125" y="11039326"/>
            <a:ext cx="1143000" cy="0"/>
          </a:xfrm>
          <a:prstGeom prst="line">
            <a:avLst/>
          </a:prstGeom>
          <a:noFill/>
          <a:ln w="38100">
            <a:solidFill>
              <a:srgbClr val="80808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708523" y="11121926"/>
            <a:ext cx="163220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Border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green)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467725" y="10677376"/>
            <a:ext cx="1143000" cy="381000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 w="19050">
            <a:solidFill>
              <a:srgbClr val="8080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8223123" y="11121926"/>
            <a:ext cx="163220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Border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(2px gold)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0" y="12103001"/>
            <a:ext cx="12192000" cy="6261050"/>
          </a:xfrm>
          <a:prstGeom prst="rect">
            <a:avLst/>
          </a:prstGeom>
          <a:solidFill>
            <a:srgbClr val="8080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Text 115"/>
          <p:cNvSpPr/>
          <p:nvPr/>
        </p:nvSpPr>
        <p:spPr>
          <a:xfrm>
            <a:off x="571500" y="12560201"/>
            <a:ext cx="492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1200" dirty="0"/>
          </a:p>
        </p:txBody>
      </p:sp>
      <p:sp>
        <p:nvSpPr>
          <p:cNvPr id="118" name="Text 116"/>
          <p:cNvSpPr/>
          <p:nvPr/>
        </p:nvSpPr>
        <p:spPr>
          <a:xfrm>
            <a:off x="571500" y="12865001"/>
            <a:ext cx="4922419" cy="8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testing page designed to verify html2pptx conversion accuracy. This page includes navigation, hero sections, data tables, shape rendering, line borders, and footer layouts.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841950" y="12560201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5841950" y="12865001"/>
            <a:ext cx="1777901" cy="1015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8001000" y="12560201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8001000" y="12865001"/>
            <a:ext cx="1777901" cy="1015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Reference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Page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10159901" y="12560201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200" dirty="0"/>
          </a:p>
        </p:txBody>
      </p:sp>
      <p:sp>
        <p:nvSpPr>
          <p:cNvPr id="124" name="Text 122"/>
          <p:cNvSpPr/>
          <p:nvPr/>
        </p:nvSpPr>
        <p:spPr>
          <a:xfrm>
            <a:off x="10159901" y="12865001"/>
            <a:ext cx="1777901" cy="1015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Service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Policy</a:t>
            </a:r>
            <a:endParaRPr lang="en-US" sz="1100" dirty="0"/>
          </a:p>
          <a:p>
            <a:pPr algn="l" marL="342900" indent="-342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571500" y="14223802"/>
            <a:ext cx="5181549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TestCorp. All rights reserved.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9476741" y="14223802"/>
            <a:ext cx="2461209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  Twitter    LinkedIn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127197" y="133350"/>
            <a:ext cx="126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11811000" y="0"/>
            <a:ext cx="381000" cy="381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Text 128"/>
          <p:cNvSpPr/>
          <p:nvPr/>
        </p:nvSpPr>
        <p:spPr>
          <a:xfrm>
            <a:off x="11932429" y="133350"/>
            <a:ext cx="1381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0" y="17983200"/>
            <a:ext cx="381000" cy="381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Text 130"/>
          <p:cNvSpPr/>
          <p:nvPr/>
        </p:nvSpPr>
        <p:spPr>
          <a:xfrm>
            <a:off x="121429" y="18116550"/>
            <a:ext cx="1381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11811000" y="179832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Text 132"/>
          <p:cNvSpPr/>
          <p:nvPr/>
        </p:nvSpPr>
        <p:spPr>
          <a:xfrm>
            <a:off x="11926660" y="18116550"/>
            <a:ext cx="1496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5803850" y="888995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Text 134"/>
          <p:cNvSpPr/>
          <p:nvPr/>
        </p:nvSpPr>
        <p:spPr>
          <a:xfrm>
            <a:off x="5903186" y="9128075"/>
            <a:ext cx="372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431750" y="762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Text 136"/>
          <p:cNvSpPr/>
          <p:nvPr/>
        </p:nvSpPr>
        <p:spPr>
          <a:xfrm>
            <a:off x="523484" y="1317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139" name="Text 137"/>
          <p:cNvSpPr/>
          <p:nvPr/>
        </p:nvSpPr>
        <p:spPr>
          <a:xfrm>
            <a:off x="3048000" y="762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Text 138"/>
          <p:cNvSpPr/>
          <p:nvPr/>
        </p:nvSpPr>
        <p:spPr>
          <a:xfrm>
            <a:off x="3139733" y="1317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41" name="Text 139"/>
          <p:cNvSpPr/>
          <p:nvPr/>
        </p:nvSpPr>
        <p:spPr>
          <a:xfrm>
            <a:off x="76200" y="7111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Text 140"/>
          <p:cNvSpPr/>
          <p:nvPr/>
        </p:nvSpPr>
        <p:spPr>
          <a:xfrm>
            <a:off x="167933" y="766614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43" name="Text 141"/>
          <p:cNvSpPr/>
          <p:nvPr/>
        </p:nvSpPr>
        <p:spPr>
          <a:xfrm>
            <a:off x="76200" y="35052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Text 142"/>
          <p:cNvSpPr/>
          <p:nvPr/>
        </p:nvSpPr>
        <p:spPr>
          <a:xfrm>
            <a:off x="167933" y="356071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145" name="Text 143"/>
          <p:cNvSpPr/>
          <p:nvPr/>
        </p:nvSpPr>
        <p:spPr>
          <a:xfrm>
            <a:off x="457200" y="48640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Text 144"/>
          <p:cNvSpPr/>
          <p:nvPr/>
        </p:nvSpPr>
        <p:spPr>
          <a:xfrm>
            <a:off x="548933" y="4919514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147" name="Text 145"/>
          <p:cNvSpPr/>
          <p:nvPr/>
        </p:nvSpPr>
        <p:spPr>
          <a:xfrm>
            <a:off x="8178701" y="48640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Text 146"/>
          <p:cNvSpPr/>
          <p:nvPr/>
        </p:nvSpPr>
        <p:spPr>
          <a:xfrm>
            <a:off x="8270434" y="4919514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149" name="Text 147"/>
          <p:cNvSpPr/>
          <p:nvPr/>
        </p:nvSpPr>
        <p:spPr>
          <a:xfrm>
            <a:off x="457200" y="885185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Text 148"/>
          <p:cNvSpPr/>
          <p:nvPr/>
        </p:nvSpPr>
        <p:spPr>
          <a:xfrm>
            <a:off x="548933" y="8907363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75" dirty="0"/>
          </a:p>
        </p:txBody>
      </p:sp>
      <p:sp>
        <p:nvSpPr>
          <p:cNvPr id="151" name="Text 149"/>
          <p:cNvSpPr/>
          <p:nvPr/>
        </p:nvSpPr>
        <p:spPr>
          <a:xfrm>
            <a:off x="76200" y="121792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Text 150"/>
          <p:cNvSpPr/>
          <p:nvPr/>
        </p:nvSpPr>
        <p:spPr>
          <a:xfrm>
            <a:off x="167933" y="12234714"/>
            <a:ext cx="70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75" dirty="0"/>
          </a:p>
        </p:txBody>
      </p:sp>
      <p:sp>
        <p:nvSpPr>
          <p:cNvPr id="153" name="Text 151"/>
          <p:cNvSpPr/>
          <p:nvPr/>
        </p:nvSpPr>
        <p:spPr>
          <a:xfrm>
            <a:off x="12192000" y="0"/>
            <a:ext cx="3492401" cy="18364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Shape 152"/>
          <p:cNvSpPr/>
          <p:nvPr/>
        </p:nvSpPr>
        <p:spPr>
          <a:xfrm>
            <a:off x="12196763" y="0"/>
            <a:ext cx="0" cy="183642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2379226" y="463451"/>
            <a:ext cx="312747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2379226" y="177701"/>
            <a:ext cx="3190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설명</a:t>
            </a:r>
            <a:endParaRPr lang="en-US" sz="1200" dirty="0"/>
          </a:p>
        </p:txBody>
      </p:sp>
      <p:sp>
        <p:nvSpPr>
          <p:cNvPr id="157" name="Text 155"/>
          <p:cNvSpPr/>
          <p:nvPr/>
        </p:nvSpPr>
        <p:spPr>
          <a:xfrm>
            <a:off x="12379226" y="650677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코너 마커</a:t>
            </a:r>
            <a:endParaRPr lang="en-US" sz="1050" dirty="0"/>
          </a:p>
        </p:txBody>
      </p:sp>
      <p:sp>
        <p:nvSpPr>
          <p:cNvPr id="158" name="Text 156"/>
          <p:cNvSpPr/>
          <p:nvPr/>
        </p:nvSpPr>
        <p:spPr>
          <a:xfrm>
            <a:off x="12518827" y="847427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변환 시 좌표 매핑 정확도를 검증하기 위한 기준점. 5개 마커(TL, TR, BL, BR, CENTER)가 네 꼭짓점과 정중앙에 배치되어 변환 후 슬라이드 좌표와 1:1 매핑 여부를 확인한다.</a:t>
            </a:r>
            <a:endParaRPr lang="en-US" sz="975" dirty="0"/>
          </a:p>
        </p:txBody>
      </p:sp>
      <p:sp>
        <p:nvSpPr>
          <p:cNvPr id="159" name="Text 157"/>
          <p:cNvSpPr/>
          <p:nvPr/>
        </p:nvSpPr>
        <p:spPr>
          <a:xfrm>
            <a:off x="12379226" y="1672828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헤더 네비게이션</a:t>
            </a:r>
            <a:endParaRPr lang="en-US" sz="1050" dirty="0"/>
          </a:p>
        </p:txBody>
      </p:sp>
      <p:sp>
        <p:nvSpPr>
          <p:cNvPr id="160" name="Text 158"/>
          <p:cNvSpPr/>
          <p:nvPr/>
        </p:nvSpPr>
        <p:spPr>
          <a:xfrm>
            <a:off x="12518827" y="1869579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 'TestCorp Portal' 브랜드 로고 텍스트와 우측 5개 네비게이션 메뉴(Home, Services, Board, About, Contact)로 구성. 어두운 네이비 배경 위에 밝은 텍스트 배치, 하단 파란색 구분선으로 본문과 시각적 분리.</a:t>
            </a:r>
            <a:endParaRPr lang="en-US" sz="975" dirty="0"/>
          </a:p>
        </p:txBody>
      </p:sp>
      <p:sp>
        <p:nvSpPr>
          <p:cNvPr id="161" name="Text 159"/>
          <p:cNvSpPr/>
          <p:nvPr/>
        </p:nvSpPr>
        <p:spPr>
          <a:xfrm>
            <a:off x="12379226" y="2694980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히어로 섹션</a:t>
            </a:r>
            <a:endParaRPr lang="en-US" sz="1050" dirty="0"/>
          </a:p>
        </p:txBody>
      </p:sp>
      <p:sp>
        <p:nvSpPr>
          <p:cNvPr id="162" name="Text 160"/>
          <p:cNvSpPr/>
          <p:nvPr/>
        </p:nvSpPr>
        <p:spPr>
          <a:xfrm>
            <a:off x="12518827" y="2891730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및 CTA 배너. 'Welcome to TestCorp Portal' 대형 제목, 설명 부제목, 2개 CTA 버튼(Get Started 채움형, Learn More 테두리형)을 중앙 정렬로 배치. 파란 배경 위 흰 텍스트로 높은 대비 유지.</a:t>
            </a:r>
            <a:endParaRPr lang="en-US" sz="975" dirty="0"/>
          </a:p>
        </p:txBody>
      </p:sp>
      <p:sp>
        <p:nvSpPr>
          <p:cNvPr id="163" name="Text 161"/>
          <p:cNvSpPr/>
          <p:nvPr/>
        </p:nvSpPr>
        <p:spPr>
          <a:xfrm>
            <a:off x="12379226" y="3717131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통계 요약 바</a:t>
            </a:r>
            <a:endParaRPr lang="en-US" sz="1050" dirty="0"/>
          </a:p>
        </p:txBody>
      </p:sp>
      <p:sp>
        <p:nvSpPr>
          <p:cNvPr id="164" name="Text 162"/>
          <p:cNvSpPr/>
          <p:nvPr/>
        </p:nvSpPr>
        <p:spPr>
          <a:xfrm>
            <a:off x="12518827" y="3913882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지표 4개(1,247 Active Users / 358 Projects / 99.9% Uptime / 24/7 Support)를 수평 균등 배치. 큰 숫자(파란, 굵은 글씨)와 작은 라벨(대문자, 회색)의 대비로 정보 위계 표현.</a:t>
            </a:r>
            <a:endParaRPr lang="en-US" sz="975" dirty="0"/>
          </a:p>
        </p:txBody>
      </p:sp>
      <p:sp>
        <p:nvSpPr>
          <p:cNvPr id="165" name="Text 163"/>
          <p:cNvSpPr/>
          <p:nvPr/>
        </p:nvSpPr>
        <p:spPr>
          <a:xfrm>
            <a:off x="12379226" y="4739283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게시판</a:t>
            </a:r>
            <a:endParaRPr lang="en-US" sz="1050" dirty="0"/>
          </a:p>
        </p:txBody>
      </p:sp>
      <p:sp>
        <p:nvSpPr>
          <p:cNvPr id="166" name="Text 164"/>
          <p:cNvSpPr/>
          <p:nvPr/>
        </p:nvSpPr>
        <p:spPr>
          <a:xfrm>
            <a:off x="12518827" y="4936034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Board 제목 + '5 New' 빨간 뱃지, 5열(No, Category, Title, Date, Views) x 5행 데이터 테이블. 카테고리별 컬러 태그(Notice/Event/Update/FAQ)로 게시물 유형 시각 구분.</a:t>
            </a:r>
            <a:endParaRPr lang="en-US" sz="975" dirty="0"/>
          </a:p>
        </p:txBody>
      </p:sp>
      <p:sp>
        <p:nvSpPr>
          <p:cNvPr id="167" name="Text 165"/>
          <p:cNvSpPr/>
          <p:nvPr/>
        </p:nvSpPr>
        <p:spPr>
          <a:xfrm>
            <a:off x="12379226" y="5761434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사이드바</a:t>
            </a:r>
            <a:endParaRPr lang="en-US" sz="1050" dirty="0"/>
          </a:p>
        </p:txBody>
      </p:sp>
      <p:sp>
        <p:nvSpPr>
          <p:cNvPr id="168" name="Text 166"/>
          <p:cNvSpPr/>
          <p:nvPr/>
        </p:nvSpPr>
        <p:spPr>
          <a:xfrm>
            <a:off x="12518827" y="5958185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 카드: Recent Updates(최근 업데이트 4건 리스트) + Quick Links(2x2 그리드: Docs, Support, Reports, Settings). 흰 배경, 둥근 모서리, 연한 테두리의 통일된 카드 스타일.</a:t>
            </a:r>
            <a:endParaRPr lang="en-US" sz="975" dirty="0"/>
          </a:p>
        </p:txBody>
      </p:sp>
      <p:sp>
        <p:nvSpPr>
          <p:cNvPr id="169" name="Text 167"/>
          <p:cNvSpPr/>
          <p:nvPr/>
        </p:nvSpPr>
        <p:spPr>
          <a:xfrm>
            <a:off x="12379226" y="6783586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도형 &amp; 라인 테스트</a:t>
            </a:r>
            <a:endParaRPr lang="en-US" sz="1050" dirty="0"/>
          </a:p>
        </p:txBody>
      </p:sp>
      <p:sp>
        <p:nvSpPr>
          <p:cNvPr id="170" name="Text 168"/>
          <p:cNvSpPr/>
          <p:nvPr/>
        </p:nvSpPr>
        <p:spPr>
          <a:xfrm>
            <a:off x="12518827" y="6980337"/>
            <a:ext cx="304763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변환 엔진의 도형/라인 렌더링 정확도 검증. 도형 5종(Rectangle, Rounded Rect, Circle, Border Only, Box Shadow) + 라인 4종(Top/Left/Bottom/Full Border). 각 요소 아래 이름 라벨 표시.</a:t>
            </a:r>
            <a:endParaRPr lang="en-US" sz="975" dirty="0"/>
          </a:p>
        </p:txBody>
      </p:sp>
      <p:sp>
        <p:nvSpPr>
          <p:cNvPr id="171" name="Text 169"/>
          <p:cNvSpPr/>
          <p:nvPr/>
        </p:nvSpPr>
        <p:spPr>
          <a:xfrm>
            <a:off x="12379226" y="7805738"/>
            <a:ext cx="319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푸터</a:t>
            </a:r>
            <a:endParaRPr lang="en-US" sz="1050" dirty="0"/>
          </a:p>
        </p:txBody>
      </p:sp>
      <p:sp>
        <p:nvSpPr>
          <p:cNvPr id="172" name="Text 170"/>
          <p:cNvSpPr/>
          <p:nvPr/>
        </p:nvSpPr>
        <p:spPr>
          <a:xfrm>
            <a:off x="12518827" y="8002488"/>
            <a:ext cx="3047631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 그리드: TestCorp 소개 / Company(About Us, Careers, Press, Blog) / Resources(Documentation, API Reference, Status Page, Changelog) / Legal(Privacy Policy, Terms of Service, Cookie Policy, GDPR). 하단 바에 저작권 + 소셜 링크(GitHub, Twitter, LinkedIn).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html2pptx-skill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html2pptx-converter</dc:creator>
  <cp:lastModifiedBy>html2pptx-converter</cp:lastModifiedBy>
  <cp:revision>1</cp:revision>
  <dcterms:created xsi:type="dcterms:W3CDTF">2026-03-12T01:53:51Z</dcterms:created>
  <dcterms:modified xsi:type="dcterms:W3CDTF">2026-03-12T01:53:51Z</dcterms:modified>
</cp:coreProperties>
</file>